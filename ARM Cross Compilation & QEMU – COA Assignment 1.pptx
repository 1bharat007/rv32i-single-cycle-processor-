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48" d="100"/>
          <a:sy n="48" d="100"/>
        </p:scale>
        <p:origin x="29"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5544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A2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F5F3EC"/>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F5F3EC"/>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A2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920"/>
          </a:xfrm>
          <a:prstGeom prst="rect">
            <a:avLst/>
          </a:prstGeom>
          <a:noFill/>
          <a:ln/>
        </p:spPr>
        <p:txBody>
          <a:bodyPr wrap="square" lIns="0" tIns="0" rIns="0" bIns="0" rtlCol="0" anchor="t"/>
          <a:lstStyle>
            <a:lvl1pPr marL="0" indent="0" algn="l">
              <a:lnSpc>
                <a:spcPct val="115000"/>
              </a:lnSpc>
              <a:buNone/>
              <a:defRPr lang="en-US" sz="3600" dirty="0">
                <a:solidFill>
                  <a:srgbClr val="F5F3EC"/>
                </a:solidFill>
                <a:latin typeface="Georgia" pitchFamily="34" charset="0"/>
                <a:ea typeface="Georgia" pitchFamily="34" charset="-122"/>
                <a:cs typeface="Georgia"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520"/>
            <a:ext cx="10566400" cy="4424680"/>
          </a:xfrm>
          <a:prstGeom prst="rect">
            <a:avLst/>
          </a:prstGeom>
          <a:noFill/>
          <a:ln/>
        </p:spPr>
        <p:txBody>
          <a:bodyPr wrap="square" lIns="0" tIns="0" rIns="0" bIns="0" rtlCol="0" anchor="t"/>
          <a:lstStyle>
            <a:lvl1pPr marL="0" indent="0" algn="l">
              <a:lnSpc>
                <a:spcPct val="140000"/>
              </a:lnSpc>
              <a:buNone/>
              <a:defRPr lang="en-US" sz="1600" dirty="0">
                <a:solidFill>
                  <a:srgbClr val="F5F3EC"/>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B"/>
        </a:solidFill>
        <a:effectLst/>
      </p:bgPr>
    </p:bg>
    <p:spTree>
      <p:nvGrpSpPr>
        <p:cNvPr id="1" name=""/>
        <p:cNvGrpSpPr/>
        <p:nvPr/>
      </p:nvGrpSpPr>
      <p:grpSpPr>
        <a:xfrm>
          <a:off x="0" y="0"/>
          <a:ext cx="0" cy="0"/>
          <a:chOff x="0" y="0"/>
          <a:chExt cx="0" cy="0"/>
        </a:xfrm>
      </p:grpSpPr>
      <p:sp>
        <p:nvSpPr>
          <p:cNvPr id="2" name="Text 0"/>
          <p:cNvSpPr/>
          <p:nvPr/>
        </p:nvSpPr>
        <p:spPr>
          <a:xfrm>
            <a:off x="812800" y="1682750"/>
            <a:ext cx="10883392" cy="274320"/>
          </a:xfrm>
          <a:prstGeom prst="rect">
            <a:avLst/>
          </a:prstGeom>
          <a:noFill/>
          <a:ln/>
        </p:spPr>
        <p:txBody>
          <a:bodyPr wrap="square" lIns="0" tIns="0" rIns="0" bIns="0" rtlCol="0" anchor="t">
            <a:normAutofit/>
          </a:bodyPr>
          <a:lstStyle/>
          <a:p>
            <a:pPr marL="0" indent="0" algn="l">
              <a:lnSpc>
                <a:spcPts val="1960"/>
              </a:lnSpc>
              <a:buNone/>
            </a:pPr>
            <a:r>
              <a:rPr lang="en-US" b="1" dirty="0">
                <a:solidFill>
                  <a:srgbClr val="F0B35A"/>
                </a:solidFill>
                <a:latin typeface="Arial" pitchFamily="34" charset="0"/>
                <a:ea typeface="Arial" pitchFamily="34" charset="-122"/>
                <a:cs typeface="Arial" pitchFamily="34" charset="-120"/>
              </a:rPr>
              <a:t>COMPUTER ORGANIZATION AND ARCHITECTURE · ASSIGNMENT 1</a:t>
            </a:r>
            <a:endParaRPr lang="en-US" dirty="0"/>
          </a:p>
        </p:txBody>
      </p:sp>
      <p:sp>
        <p:nvSpPr>
          <p:cNvPr id="3" name="Text 1"/>
          <p:cNvSpPr>
            <a:spLocks noGrp="1"/>
          </p:cNvSpPr>
          <p:nvPr>
            <p:ph type="title"/>
          </p:nvPr>
        </p:nvSpPr>
        <p:spPr>
          <a:xfrm>
            <a:off x="812800" y="2160270"/>
            <a:ext cx="10883392" cy="1518920"/>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F5F3EC"/>
                </a:solidFill>
                <a:latin typeface="Georgia" pitchFamily="18" charset="0"/>
                <a:ea typeface="Georgia" pitchFamily="18" charset="-122"/>
                <a:cs typeface="Georgia" pitchFamily="18" charset="-120"/>
              </a:rPr>
              <a:t>ARM Cross Compilation and QEMU Emulation</a:t>
            </a:r>
            <a:endParaRPr lang="en-US" sz="5600" dirty="0"/>
          </a:p>
        </p:txBody>
      </p:sp>
      <p:sp>
        <p:nvSpPr>
          <p:cNvPr id="4" name="Text 2"/>
          <p:cNvSpPr/>
          <p:nvPr/>
        </p:nvSpPr>
        <p:spPr>
          <a:xfrm>
            <a:off x="812800" y="3882390"/>
            <a:ext cx="10883392"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C9CFDB"/>
                </a:solidFill>
                <a:latin typeface="Arial" pitchFamily="34" charset="0"/>
                <a:ea typeface="Arial" pitchFamily="34" charset="-122"/>
                <a:cs typeface="Arial" pitchFamily="34" charset="-120"/>
              </a:rPr>
              <a:t>From C source to ARM assembly, executable and emulated run</a:t>
            </a:r>
            <a:endParaRPr lang="en-US" sz="1800" dirty="0"/>
          </a:p>
        </p:txBody>
      </p:sp>
      <p:sp>
        <p:nvSpPr>
          <p:cNvPr id="5" name="Text 3"/>
          <p:cNvSpPr/>
          <p:nvPr/>
        </p:nvSpPr>
        <p:spPr>
          <a:xfrm>
            <a:off x="812800" y="4431030"/>
            <a:ext cx="10883392" cy="2033938"/>
          </a:xfrm>
          <a:prstGeom prst="rect">
            <a:avLst/>
          </a:prstGeom>
          <a:noFill/>
          <a:ln/>
        </p:spPr>
        <p:txBody>
          <a:bodyPr wrap="square" lIns="0" tIns="0" rIns="0" bIns="0" rtlCol="0" anchor="t">
            <a:normAutofit/>
          </a:bodyPr>
          <a:lstStyle/>
          <a:p>
            <a:pPr marL="0" indent="0" algn="l">
              <a:lnSpc>
                <a:spcPct val="200000"/>
              </a:lnSpc>
              <a:buNone/>
            </a:pPr>
            <a:r>
              <a:rPr lang="en-US" sz="2000" dirty="0">
                <a:solidFill>
                  <a:srgbClr val="F5F3EC"/>
                </a:solidFill>
                <a:latin typeface="Arial" pitchFamily="34" charset="0"/>
                <a:ea typeface="Arial" pitchFamily="34" charset="-122"/>
                <a:cs typeface="Arial" pitchFamily="34" charset="-120"/>
              </a:rPr>
              <a:t>Abhishek (2024BITE060)  </a:t>
            </a:r>
          </a:p>
          <a:p>
            <a:pPr marL="0" indent="0" algn="l">
              <a:lnSpc>
                <a:spcPct val="200000"/>
              </a:lnSpc>
              <a:buNone/>
            </a:pPr>
            <a:r>
              <a:rPr lang="en-US" sz="2000" dirty="0">
                <a:solidFill>
                  <a:srgbClr val="F5F3EC"/>
                </a:solidFill>
                <a:latin typeface="Arial" pitchFamily="34" charset="0"/>
                <a:ea typeface="Arial" pitchFamily="34" charset="-122"/>
                <a:cs typeface="Arial" pitchFamily="34" charset="-120"/>
              </a:rPr>
              <a:t>Bharat Bushan (2024BITE054)</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C2333"/>
                </a:solidFill>
                <a:latin typeface="Georgia" pitchFamily="18" charset="0"/>
                <a:ea typeface="Georgia" pitchFamily="18" charset="-122"/>
                <a:cs typeface="Georgia" pitchFamily="18" charset="-120"/>
              </a:rPr>
              <a:t>What is cross compilation?</a:t>
            </a:r>
            <a:endParaRPr lang="en-US" sz="3600" dirty="0"/>
          </a:p>
        </p:txBody>
      </p:sp>
      <p:sp>
        <p:nvSpPr>
          <p:cNvPr id="3" name="Text 1"/>
          <p:cNvSpPr/>
          <p:nvPr/>
        </p:nvSpPr>
        <p:spPr>
          <a:xfrm>
            <a:off x="812800" y="1569720"/>
            <a:ext cx="10883392" cy="33401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C2333"/>
                </a:solidFill>
                <a:latin typeface="Arial" pitchFamily="34" charset="0"/>
                <a:ea typeface="Arial" pitchFamily="34" charset="-122"/>
                <a:cs typeface="Arial" pitchFamily="34" charset="-120"/>
              </a:rPr>
              <a:t>Building an executable on one platform (the host) that runs on a different platform (the target).</a:t>
            </a:r>
            <a:endParaRPr lang="en-US" sz="1800" dirty="0"/>
          </a:p>
        </p:txBody>
      </p:sp>
      <p:sp>
        <p:nvSpPr>
          <p:cNvPr id="4" name="Shape 2"/>
          <p:cNvSpPr/>
          <p:nvPr/>
        </p:nvSpPr>
        <p:spPr>
          <a:xfrm>
            <a:off x="815975" y="2135505"/>
            <a:ext cx="3380264" cy="1624330"/>
          </a:xfrm>
          <a:prstGeom prst="roundRect">
            <a:avLst>
              <a:gd name="adj" fmla="val 6059"/>
            </a:avLst>
          </a:prstGeom>
          <a:solidFill>
            <a:srgbClr val="FFFFFF"/>
          </a:solidFill>
          <a:ln w="6350">
            <a:solidFill>
              <a:srgbClr val="D9D5C8"/>
            </a:solidFill>
            <a:prstDash val="solid"/>
          </a:ln>
        </p:spPr>
        <p:txBody>
          <a:bodyPr/>
          <a:lstStyle/>
          <a:p>
            <a:endParaRPr lang="en-IN"/>
          </a:p>
        </p:txBody>
      </p:sp>
      <p:sp>
        <p:nvSpPr>
          <p:cNvPr id="5" name="Text 3"/>
          <p:cNvSpPr/>
          <p:nvPr/>
        </p:nvSpPr>
        <p:spPr>
          <a:xfrm>
            <a:off x="1046480" y="2366010"/>
            <a:ext cx="3006831"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6F80"/>
                </a:solidFill>
                <a:latin typeface="Arial" pitchFamily="34" charset="0"/>
                <a:ea typeface="Arial" pitchFamily="34" charset="-122"/>
                <a:cs typeface="Arial" pitchFamily="34" charset="-120"/>
              </a:rPr>
              <a:t>Host</a:t>
            </a:r>
            <a:endParaRPr lang="en-US" sz="1800" dirty="0"/>
          </a:p>
        </p:txBody>
      </p:sp>
      <p:sp>
        <p:nvSpPr>
          <p:cNvPr id="6" name="Text 4"/>
          <p:cNvSpPr/>
          <p:nvPr/>
        </p:nvSpPr>
        <p:spPr>
          <a:xfrm>
            <a:off x="1046480" y="2729230"/>
            <a:ext cx="3006831"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C2333"/>
                </a:solidFill>
                <a:latin typeface="Arial" pitchFamily="34" charset="0"/>
                <a:ea typeface="Arial" pitchFamily="34" charset="-122"/>
                <a:cs typeface="Arial" pitchFamily="34" charset="-120"/>
              </a:rPr>
              <a:t>Ubuntu on x86-64. The machine where the compiler runs.</a:t>
            </a:r>
            <a:endParaRPr lang="en-US" sz="1500" dirty="0"/>
          </a:p>
        </p:txBody>
      </p:sp>
      <p:sp>
        <p:nvSpPr>
          <p:cNvPr id="7" name="Shape 5"/>
          <p:cNvSpPr/>
          <p:nvPr/>
        </p:nvSpPr>
        <p:spPr>
          <a:xfrm>
            <a:off x="4405789" y="2135505"/>
            <a:ext cx="3380343" cy="1624330"/>
          </a:xfrm>
          <a:prstGeom prst="roundRect">
            <a:avLst>
              <a:gd name="adj" fmla="val 6059"/>
            </a:avLst>
          </a:prstGeom>
          <a:solidFill>
            <a:srgbClr val="FFFFFF"/>
          </a:solidFill>
          <a:ln w="6350">
            <a:solidFill>
              <a:srgbClr val="D9D5C8"/>
            </a:solidFill>
            <a:prstDash val="solid"/>
          </a:ln>
        </p:spPr>
        <p:txBody>
          <a:bodyPr/>
          <a:lstStyle/>
          <a:p>
            <a:endParaRPr lang="en-IN"/>
          </a:p>
        </p:txBody>
      </p:sp>
      <p:sp>
        <p:nvSpPr>
          <p:cNvPr id="8" name="Text 6"/>
          <p:cNvSpPr/>
          <p:nvPr/>
        </p:nvSpPr>
        <p:spPr>
          <a:xfrm>
            <a:off x="4636294" y="2366010"/>
            <a:ext cx="300691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8691A"/>
                </a:solidFill>
                <a:latin typeface="Arial" pitchFamily="34" charset="0"/>
                <a:ea typeface="Arial" pitchFamily="34" charset="-122"/>
                <a:cs typeface="Arial" pitchFamily="34" charset="-120"/>
              </a:rPr>
              <a:t>Cross compiler</a:t>
            </a:r>
            <a:endParaRPr lang="en-US" sz="1800" dirty="0"/>
          </a:p>
        </p:txBody>
      </p:sp>
      <p:sp>
        <p:nvSpPr>
          <p:cNvPr id="9" name="Text 7"/>
          <p:cNvSpPr/>
          <p:nvPr/>
        </p:nvSpPr>
        <p:spPr>
          <a:xfrm>
            <a:off x="4636294" y="2729230"/>
            <a:ext cx="300691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F6F80"/>
                </a:solidFill>
                <a:latin typeface="Courier New" pitchFamily="49" charset="0"/>
                <a:ea typeface="Courier New" pitchFamily="49" charset="-122"/>
                <a:cs typeface="Courier New" pitchFamily="49" charset="-120"/>
              </a:rPr>
              <a:t>arm-linux-gnueabi-gcc</a:t>
            </a:r>
            <a:endParaRPr lang="en-US" sz="1400" dirty="0"/>
          </a:p>
        </p:txBody>
      </p:sp>
      <p:sp>
        <p:nvSpPr>
          <p:cNvPr id="10" name="Text 8"/>
          <p:cNvSpPr/>
          <p:nvPr/>
        </p:nvSpPr>
        <p:spPr>
          <a:xfrm>
            <a:off x="4636294" y="3067050"/>
            <a:ext cx="300691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C2333"/>
                </a:solidFill>
                <a:latin typeface="Arial" pitchFamily="34" charset="0"/>
                <a:ea typeface="Arial" pitchFamily="34" charset="-122"/>
                <a:cs typeface="Arial" pitchFamily="34" charset="-120"/>
              </a:rPr>
              <a:t>arm = CPU · linux = OS · gnueabi = GNU embedded ABI · gcc = compiler</a:t>
            </a:r>
            <a:endParaRPr lang="en-US" sz="1300" dirty="0"/>
          </a:p>
        </p:txBody>
      </p:sp>
      <p:sp>
        <p:nvSpPr>
          <p:cNvPr id="11" name="Shape 9"/>
          <p:cNvSpPr/>
          <p:nvPr/>
        </p:nvSpPr>
        <p:spPr>
          <a:xfrm>
            <a:off x="7995682" y="2135505"/>
            <a:ext cx="3380343" cy="1624330"/>
          </a:xfrm>
          <a:prstGeom prst="roundRect">
            <a:avLst>
              <a:gd name="adj" fmla="val 6059"/>
            </a:avLst>
          </a:prstGeom>
          <a:solidFill>
            <a:srgbClr val="FFFFFF"/>
          </a:solidFill>
          <a:ln w="6350">
            <a:solidFill>
              <a:srgbClr val="D9D5C8"/>
            </a:solidFill>
            <a:prstDash val="solid"/>
          </a:ln>
        </p:spPr>
        <p:txBody>
          <a:bodyPr/>
          <a:lstStyle/>
          <a:p>
            <a:endParaRPr lang="en-IN"/>
          </a:p>
        </p:txBody>
      </p:sp>
      <p:sp>
        <p:nvSpPr>
          <p:cNvPr id="12" name="Text 10"/>
          <p:cNvSpPr/>
          <p:nvPr/>
        </p:nvSpPr>
        <p:spPr>
          <a:xfrm>
            <a:off x="8226187" y="2366010"/>
            <a:ext cx="300691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F6F80"/>
                </a:solidFill>
                <a:latin typeface="Arial" pitchFamily="34" charset="0"/>
                <a:ea typeface="Arial" pitchFamily="34" charset="-122"/>
                <a:cs typeface="Arial" pitchFamily="34" charset="-120"/>
              </a:rPr>
              <a:t>Target</a:t>
            </a:r>
            <a:endParaRPr lang="en-US" sz="1800" dirty="0"/>
          </a:p>
        </p:txBody>
      </p:sp>
      <p:sp>
        <p:nvSpPr>
          <p:cNvPr id="13" name="Text 11"/>
          <p:cNvSpPr/>
          <p:nvPr/>
        </p:nvSpPr>
        <p:spPr>
          <a:xfrm>
            <a:off x="8226187" y="2729230"/>
            <a:ext cx="3006913"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C2333"/>
                </a:solidFill>
                <a:latin typeface="Arial" pitchFamily="34" charset="0"/>
                <a:ea typeface="Arial" pitchFamily="34" charset="-122"/>
                <a:cs typeface="Arial" pitchFamily="34" charset="-120"/>
              </a:rPr>
              <a:t>ARM running GNU/Linux. Only runs the final binary.</a:t>
            </a:r>
            <a:endParaRPr lang="en-US" sz="1500" dirty="0"/>
          </a:p>
        </p:txBody>
      </p:sp>
      <p:sp>
        <p:nvSpPr>
          <p:cNvPr id="14" name="Text 12"/>
          <p:cNvSpPr/>
          <p:nvPr/>
        </p:nvSpPr>
        <p:spPr>
          <a:xfrm>
            <a:off x="799933" y="4077100"/>
            <a:ext cx="11070550" cy="683327"/>
          </a:xfrm>
          <a:prstGeom prst="rect">
            <a:avLst/>
          </a:prstGeom>
          <a:noFill/>
          <a:ln/>
        </p:spPr>
        <p:txBody>
          <a:bodyPr wrap="square" lIns="0" tIns="0" rIns="0" bIns="0" rtlCol="0" anchor="t">
            <a:normAutofit/>
          </a:bodyPr>
          <a:lstStyle/>
          <a:p>
            <a:pPr marL="0" indent="0" algn="l">
              <a:lnSpc>
                <a:spcPts val="2025"/>
              </a:lnSpc>
              <a:buNone/>
            </a:pPr>
            <a:r>
              <a:rPr lang="en-US" sz="2000" b="1" dirty="0">
                <a:solidFill>
                  <a:srgbClr val="1C2333"/>
                </a:solidFill>
                <a:latin typeface="Arial" pitchFamily="34" charset="0"/>
                <a:ea typeface="Arial" pitchFamily="34" charset="-122"/>
                <a:cs typeface="Arial" pitchFamily="34" charset="-120"/>
              </a:rPr>
              <a:t>Why it matters ?</a:t>
            </a:r>
          </a:p>
        </p:txBody>
      </p:sp>
      <p:sp>
        <p:nvSpPr>
          <p:cNvPr id="15" name="Text 13"/>
          <p:cNvSpPr/>
          <p:nvPr/>
        </p:nvSpPr>
        <p:spPr>
          <a:xfrm>
            <a:off x="812800" y="6238241"/>
            <a:ext cx="31373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Arial" pitchFamily="34" charset="0"/>
                <a:ea typeface="Arial" pitchFamily="34" charset="-122"/>
                <a:cs typeface="Arial" pitchFamily="34" charset="-120"/>
              </a:rPr>
              <a:t>COA Assignment 1 · NIT Srinagar · Q1</a:t>
            </a:r>
            <a:endParaRPr lang="en-US" sz="1200" dirty="0"/>
          </a:p>
        </p:txBody>
      </p:sp>
      <p:sp>
        <p:nvSpPr>
          <p:cNvPr id="16" name="TextBox 15">
            <a:extLst>
              <a:ext uri="{FF2B5EF4-FFF2-40B4-BE49-F238E27FC236}">
                <a16:creationId xmlns:a16="http://schemas.microsoft.com/office/drawing/2014/main" id="{E4179A8E-ED3B-4504-11F1-588687BCEA35}"/>
              </a:ext>
            </a:extLst>
          </p:cNvPr>
          <p:cNvSpPr txBox="1"/>
          <p:nvPr/>
        </p:nvSpPr>
        <p:spPr>
          <a:xfrm>
            <a:off x="812800" y="4481364"/>
            <a:ext cx="11598111" cy="1200329"/>
          </a:xfrm>
          <a:prstGeom prst="rect">
            <a:avLst/>
          </a:prstGeom>
          <a:noFill/>
        </p:spPr>
        <p:txBody>
          <a:bodyPr wrap="none" rtlCol="0">
            <a:spAutoFit/>
          </a:bodyPr>
          <a:lstStyle/>
          <a:p>
            <a:pPr>
              <a:lnSpc>
                <a:spcPct val="150000"/>
              </a:lnSpc>
            </a:pPr>
            <a:r>
              <a:rPr lang="en-US" dirty="0">
                <a:solidFill>
                  <a:srgbClr val="1C2333"/>
                </a:solidFill>
                <a:latin typeface="Arial" pitchFamily="34" charset="0"/>
                <a:ea typeface="Arial" pitchFamily="34" charset="-122"/>
                <a:cs typeface="Arial" pitchFamily="34" charset="-120"/>
              </a:rPr>
              <a:t>Embedded and ARM devices have limited CPU, memory and storage, so a powerful host builds for them,           </a:t>
            </a:r>
          </a:p>
          <a:p>
            <a:pPr>
              <a:lnSpc>
                <a:spcPct val="150000"/>
              </a:lnSpc>
            </a:pPr>
            <a:r>
              <a:rPr lang="en-US" dirty="0">
                <a:solidFill>
                  <a:srgbClr val="1C2333"/>
                </a:solidFill>
                <a:latin typeface="Arial" pitchFamily="34" charset="0"/>
                <a:ea typeface="Arial" pitchFamily="34" charset="-122"/>
                <a:cs typeface="Arial" pitchFamily="34" charset="-120"/>
              </a:rPr>
              <a:t>                                     and one host can build for many architectures.</a:t>
            </a:r>
            <a:endParaRPr lang="en-US"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A2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C"/>
                </a:solidFill>
                <a:latin typeface="Georgia" pitchFamily="18" charset="0"/>
                <a:ea typeface="Georgia" pitchFamily="18" charset="-122"/>
                <a:cs typeface="Georgia" pitchFamily="18" charset="-120"/>
              </a:rPr>
              <a:t>From C source to ARM executable</a:t>
            </a:r>
            <a:endParaRPr lang="en-US" sz="3600" dirty="0"/>
          </a:p>
        </p:txBody>
      </p:sp>
      <p:sp>
        <p:nvSpPr>
          <p:cNvPr id="3" name="Shape 1"/>
          <p:cNvSpPr/>
          <p:nvPr/>
        </p:nvSpPr>
        <p:spPr>
          <a:xfrm>
            <a:off x="812800" y="1569720"/>
            <a:ext cx="5194300" cy="1590040"/>
          </a:xfrm>
          <a:prstGeom prst="roundRect">
            <a:avLst>
              <a:gd name="adj" fmla="val 6390"/>
            </a:avLst>
          </a:prstGeom>
          <a:solidFill>
            <a:srgbClr val="1D2840"/>
          </a:solidFill>
          <a:ln/>
        </p:spPr>
        <p:txBody>
          <a:bodyPr/>
          <a:lstStyle/>
          <a:p>
            <a:endParaRPr lang="en-IN" dirty="0"/>
          </a:p>
        </p:txBody>
      </p:sp>
      <p:sp>
        <p:nvSpPr>
          <p:cNvPr id="4" name="Text 2"/>
          <p:cNvSpPr/>
          <p:nvPr/>
        </p:nvSpPr>
        <p:spPr>
          <a:xfrm>
            <a:off x="1041400" y="1798320"/>
            <a:ext cx="48792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B35A"/>
                </a:solidFill>
                <a:latin typeface="Arial" pitchFamily="34" charset="0"/>
                <a:ea typeface="Arial" pitchFamily="34" charset="-122"/>
                <a:cs typeface="Arial" pitchFamily="34" charset="-120"/>
              </a:rPr>
              <a:t>1 · Install arm-</a:t>
            </a:r>
            <a:r>
              <a:rPr lang="en-US" sz="1600" b="1" dirty="0" err="1">
                <a:solidFill>
                  <a:srgbClr val="F0B35A"/>
                </a:solidFill>
                <a:latin typeface="Arial" pitchFamily="34" charset="0"/>
                <a:ea typeface="Arial" pitchFamily="34" charset="-122"/>
                <a:cs typeface="Arial" pitchFamily="34" charset="-120"/>
              </a:rPr>
              <a:t>linux</a:t>
            </a:r>
            <a:r>
              <a:rPr lang="en-US" sz="1600" b="1" dirty="0">
                <a:solidFill>
                  <a:srgbClr val="F0B35A"/>
                </a:solidFill>
                <a:latin typeface="Arial" pitchFamily="34" charset="0"/>
                <a:ea typeface="Arial" pitchFamily="34" charset="-122"/>
                <a:cs typeface="Arial" pitchFamily="34" charset="-120"/>
              </a:rPr>
              <a:t>-</a:t>
            </a:r>
            <a:r>
              <a:rPr lang="en-US" sz="1600" b="1" dirty="0" err="1">
                <a:solidFill>
                  <a:srgbClr val="F0B35A"/>
                </a:solidFill>
                <a:latin typeface="Arial" pitchFamily="34" charset="0"/>
                <a:ea typeface="Arial" pitchFamily="34" charset="-122"/>
                <a:cs typeface="Arial" pitchFamily="34" charset="-120"/>
              </a:rPr>
              <a:t>gnueabi</a:t>
            </a:r>
            <a:r>
              <a:rPr lang="en-US" sz="1600" b="1" dirty="0">
                <a:solidFill>
                  <a:srgbClr val="F0B35A"/>
                </a:solidFill>
                <a:latin typeface="Arial" pitchFamily="34" charset="0"/>
                <a:ea typeface="Arial" pitchFamily="34" charset="-122"/>
                <a:cs typeface="Arial" pitchFamily="34" charset="-120"/>
              </a:rPr>
              <a:t> cross compiler</a:t>
            </a:r>
          </a:p>
          <a:p>
            <a:pPr marL="0" indent="0" algn="l">
              <a:lnSpc>
                <a:spcPts val="1920"/>
              </a:lnSpc>
              <a:buNone/>
            </a:pPr>
            <a:endParaRPr lang="en-US" sz="1600" dirty="0"/>
          </a:p>
        </p:txBody>
      </p:sp>
      <p:sp>
        <p:nvSpPr>
          <p:cNvPr id="5" name="Text 3"/>
          <p:cNvSpPr/>
          <p:nvPr/>
        </p:nvSpPr>
        <p:spPr>
          <a:xfrm>
            <a:off x="1041400" y="2131061"/>
            <a:ext cx="487921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B35A"/>
                </a:solidFill>
                <a:latin typeface="Courier New" pitchFamily="49" charset="0"/>
                <a:ea typeface="Courier New" pitchFamily="49" charset="-122"/>
                <a:cs typeface="Courier New" pitchFamily="49" charset="-120"/>
              </a:rPr>
              <a:t>sudo apt install gcc-arm-linux-gnueabi</a:t>
            </a:r>
            <a:endParaRPr lang="en-US" sz="1400" dirty="0"/>
          </a:p>
        </p:txBody>
      </p:sp>
      <p:sp>
        <p:nvSpPr>
          <p:cNvPr id="6" name="Text 4"/>
          <p:cNvSpPr/>
          <p:nvPr/>
        </p:nvSpPr>
        <p:spPr>
          <a:xfrm>
            <a:off x="1041400" y="2468880"/>
            <a:ext cx="487921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5F3EC"/>
                </a:solidFill>
                <a:latin typeface="Arial" pitchFamily="34" charset="0"/>
                <a:ea typeface="Arial" pitchFamily="34" charset="-122"/>
                <a:cs typeface="Arial" pitchFamily="34" charset="-120"/>
              </a:rPr>
              <a:t>Verified with --version: GCC 13.3.0 on Ubuntu 24.04.</a:t>
            </a:r>
            <a:endParaRPr lang="en-US" sz="1300" dirty="0"/>
          </a:p>
        </p:txBody>
      </p:sp>
      <p:sp>
        <p:nvSpPr>
          <p:cNvPr id="7" name="Shape 5"/>
          <p:cNvSpPr/>
          <p:nvPr/>
        </p:nvSpPr>
        <p:spPr>
          <a:xfrm>
            <a:off x="6184900" y="1569720"/>
            <a:ext cx="5194300" cy="1590040"/>
          </a:xfrm>
          <a:prstGeom prst="roundRect">
            <a:avLst>
              <a:gd name="adj" fmla="val 6390"/>
            </a:avLst>
          </a:prstGeom>
          <a:solidFill>
            <a:srgbClr val="1D2840"/>
          </a:solidFill>
          <a:ln/>
        </p:spPr>
        <p:txBody>
          <a:bodyPr/>
          <a:lstStyle/>
          <a:p>
            <a:endParaRPr lang="en-IN" dirty="0"/>
          </a:p>
        </p:txBody>
      </p:sp>
      <p:sp>
        <p:nvSpPr>
          <p:cNvPr id="8" name="Text 6"/>
          <p:cNvSpPr/>
          <p:nvPr/>
        </p:nvSpPr>
        <p:spPr>
          <a:xfrm>
            <a:off x="6413500" y="1798320"/>
            <a:ext cx="4879213" cy="269240"/>
          </a:xfrm>
          <a:prstGeom prst="rect">
            <a:avLst/>
          </a:prstGeom>
          <a:noFill/>
          <a:ln/>
        </p:spPr>
        <p:txBody>
          <a:bodyPr wrap="square" lIns="0" tIns="0" rIns="0" bIns="0" rtlCol="0" anchor="t">
            <a:normAutofit/>
          </a:bodyPr>
          <a:lstStyle/>
          <a:p>
            <a:pPr>
              <a:lnSpc>
                <a:spcPts val="1920"/>
              </a:lnSpc>
            </a:pPr>
            <a:r>
              <a:rPr lang="en-US" sz="1600" b="1" dirty="0">
                <a:solidFill>
                  <a:schemeClr val="accent1"/>
                </a:solidFill>
                <a:latin typeface="Arial" pitchFamily="34" charset="0"/>
                <a:ea typeface="Arial" pitchFamily="34" charset="-122"/>
                <a:cs typeface="Arial" pitchFamily="34" charset="-120"/>
              </a:rPr>
              <a:t>2 · </a:t>
            </a:r>
            <a:r>
              <a:rPr lang="en-IN" sz="1600" b="1" dirty="0">
                <a:solidFill>
                  <a:schemeClr val="accent1"/>
                </a:solidFill>
              </a:rPr>
              <a:t>Generate the assembly code</a:t>
            </a:r>
            <a:endParaRPr lang="en-US" sz="1600" b="1" dirty="0">
              <a:solidFill>
                <a:schemeClr val="accent1"/>
              </a:solidFill>
            </a:endParaRPr>
          </a:p>
        </p:txBody>
      </p:sp>
      <p:sp>
        <p:nvSpPr>
          <p:cNvPr id="9" name="Text 7"/>
          <p:cNvSpPr/>
          <p:nvPr/>
        </p:nvSpPr>
        <p:spPr>
          <a:xfrm>
            <a:off x="6413500" y="2131061"/>
            <a:ext cx="487921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B35A"/>
                </a:solidFill>
                <a:latin typeface="Courier New" pitchFamily="49" charset="0"/>
                <a:ea typeface="Courier New" pitchFamily="49" charset="-122"/>
                <a:cs typeface="Courier New" pitchFamily="49" charset="-120"/>
              </a:rPr>
              <a:t>arm-linux-gnueabi-gcc -S hello_world.c</a:t>
            </a:r>
            <a:endParaRPr lang="en-US" sz="1400" dirty="0"/>
          </a:p>
        </p:txBody>
      </p:sp>
      <p:sp>
        <p:nvSpPr>
          <p:cNvPr id="10" name="Text 8"/>
          <p:cNvSpPr/>
          <p:nvPr/>
        </p:nvSpPr>
        <p:spPr>
          <a:xfrm>
            <a:off x="6413500" y="2468880"/>
            <a:ext cx="487921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5F3EC"/>
                </a:solidFill>
                <a:latin typeface="Arial" pitchFamily="34" charset="0"/>
                <a:ea typeface="Arial" pitchFamily="34" charset="-122"/>
                <a:cs typeface="Arial" pitchFamily="34" charset="-120"/>
              </a:rPr>
              <a:t>-S stops after compiling, giving hello_world.s (push, ldr, bl puts, pop).</a:t>
            </a:r>
            <a:endParaRPr lang="en-US" sz="1300" dirty="0"/>
          </a:p>
        </p:txBody>
      </p:sp>
      <p:sp>
        <p:nvSpPr>
          <p:cNvPr id="11" name="Shape 9"/>
          <p:cNvSpPr/>
          <p:nvPr/>
        </p:nvSpPr>
        <p:spPr>
          <a:xfrm>
            <a:off x="812800" y="3388360"/>
            <a:ext cx="5194300" cy="1607820"/>
          </a:xfrm>
          <a:prstGeom prst="roundRect">
            <a:avLst>
              <a:gd name="adj" fmla="val 6319"/>
            </a:avLst>
          </a:prstGeom>
          <a:solidFill>
            <a:srgbClr val="1D2840"/>
          </a:solidFill>
          <a:ln/>
        </p:spPr>
        <p:txBody>
          <a:bodyPr/>
          <a:lstStyle/>
          <a:p>
            <a:endParaRPr lang="en-IN"/>
          </a:p>
        </p:txBody>
      </p:sp>
      <p:sp>
        <p:nvSpPr>
          <p:cNvPr id="12" name="Text 10"/>
          <p:cNvSpPr/>
          <p:nvPr/>
        </p:nvSpPr>
        <p:spPr>
          <a:xfrm>
            <a:off x="1041400" y="3566161"/>
            <a:ext cx="4879213" cy="269240"/>
          </a:xfrm>
          <a:prstGeom prst="rect">
            <a:avLst/>
          </a:prstGeom>
          <a:noFill/>
          <a:ln/>
        </p:spPr>
        <p:txBody>
          <a:bodyPr wrap="square" lIns="0" tIns="0" rIns="0" bIns="0" rtlCol="0" anchor="t">
            <a:normAutofit/>
          </a:bodyPr>
          <a:lstStyle/>
          <a:p>
            <a:pPr>
              <a:lnSpc>
                <a:spcPts val="1920"/>
              </a:lnSpc>
            </a:pPr>
            <a:r>
              <a:rPr lang="en-US" b="1" dirty="0">
                <a:solidFill>
                  <a:schemeClr val="accent1"/>
                </a:solidFill>
                <a:latin typeface="Arial" pitchFamily="34" charset="0"/>
                <a:ea typeface="Arial" pitchFamily="34" charset="-122"/>
                <a:cs typeface="Arial" pitchFamily="34" charset="-120"/>
              </a:rPr>
              <a:t>3 · </a:t>
            </a:r>
            <a:r>
              <a:rPr lang="en-IN" b="1" dirty="0">
                <a:solidFill>
                  <a:schemeClr val="accent1"/>
                </a:solidFill>
              </a:rPr>
              <a:t>Generate the executable</a:t>
            </a:r>
            <a:endParaRPr lang="en-US" b="1" dirty="0">
              <a:solidFill>
                <a:schemeClr val="accent1"/>
              </a:solidFill>
            </a:endParaRPr>
          </a:p>
        </p:txBody>
      </p:sp>
      <p:sp>
        <p:nvSpPr>
          <p:cNvPr id="13" name="Text 11"/>
          <p:cNvSpPr/>
          <p:nvPr/>
        </p:nvSpPr>
        <p:spPr>
          <a:xfrm>
            <a:off x="1041400" y="3898900"/>
            <a:ext cx="4879213"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B35A"/>
                </a:solidFill>
                <a:latin typeface="Courier New" pitchFamily="49" charset="0"/>
                <a:ea typeface="Courier New" pitchFamily="49" charset="-122"/>
                <a:cs typeface="Courier New" pitchFamily="49" charset="-120"/>
              </a:rPr>
              <a:t>arm-linux-gnueabi-gcc hello_world.c -o hello_world</a:t>
            </a:r>
            <a:endParaRPr lang="en-US" sz="1400" dirty="0"/>
          </a:p>
        </p:txBody>
      </p:sp>
      <p:sp>
        <p:nvSpPr>
          <p:cNvPr id="14" name="Text 12"/>
          <p:cNvSpPr/>
          <p:nvPr/>
        </p:nvSpPr>
        <p:spPr>
          <a:xfrm>
            <a:off x="1041400" y="4485641"/>
            <a:ext cx="4879213"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5F3EC"/>
                </a:solidFill>
                <a:latin typeface="Arial" pitchFamily="34" charset="0"/>
                <a:ea typeface="Arial" pitchFamily="34" charset="-122"/>
                <a:cs typeface="Arial" pitchFamily="34" charset="-120"/>
              </a:rPr>
              <a:t>Produces an ARM ELF binary.</a:t>
            </a:r>
            <a:endParaRPr lang="en-US" sz="1300" dirty="0"/>
          </a:p>
        </p:txBody>
      </p:sp>
      <p:sp>
        <p:nvSpPr>
          <p:cNvPr id="15" name="Shape 13"/>
          <p:cNvSpPr/>
          <p:nvPr/>
        </p:nvSpPr>
        <p:spPr>
          <a:xfrm>
            <a:off x="6184900" y="3337561"/>
            <a:ext cx="5194300" cy="1607820"/>
          </a:xfrm>
          <a:prstGeom prst="roundRect">
            <a:avLst>
              <a:gd name="adj" fmla="val 6319"/>
            </a:avLst>
          </a:prstGeom>
          <a:solidFill>
            <a:srgbClr val="1D2840"/>
          </a:solidFill>
          <a:ln/>
        </p:spPr>
        <p:txBody>
          <a:bodyPr/>
          <a:lstStyle/>
          <a:p>
            <a:endParaRPr lang="en-IN"/>
          </a:p>
        </p:txBody>
      </p:sp>
      <p:sp>
        <p:nvSpPr>
          <p:cNvPr id="16" name="Text 14"/>
          <p:cNvSpPr/>
          <p:nvPr/>
        </p:nvSpPr>
        <p:spPr>
          <a:xfrm>
            <a:off x="6413500" y="3566161"/>
            <a:ext cx="4879213"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B35A"/>
                </a:solidFill>
                <a:latin typeface="Arial" pitchFamily="34" charset="0"/>
                <a:ea typeface="Arial" pitchFamily="34" charset="-122"/>
                <a:cs typeface="Arial" pitchFamily="34" charset="-120"/>
              </a:rPr>
              <a:t>4 · Verify </a:t>
            </a:r>
            <a:endParaRPr lang="en-US" sz="1600" b="1" dirty="0"/>
          </a:p>
        </p:txBody>
      </p:sp>
      <p:sp>
        <p:nvSpPr>
          <p:cNvPr id="17" name="Text 15"/>
          <p:cNvSpPr/>
          <p:nvPr/>
        </p:nvSpPr>
        <p:spPr>
          <a:xfrm>
            <a:off x="6413500" y="3898900"/>
            <a:ext cx="487921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0B35A"/>
                </a:solidFill>
                <a:latin typeface="Courier New" pitchFamily="49" charset="0"/>
                <a:ea typeface="Courier New" pitchFamily="49" charset="-122"/>
                <a:cs typeface="Courier New" pitchFamily="49" charset="-120"/>
              </a:rPr>
              <a:t>file hello_world</a:t>
            </a:r>
            <a:endParaRPr lang="en-US" sz="1400" dirty="0"/>
          </a:p>
        </p:txBody>
      </p:sp>
      <p:sp>
        <p:nvSpPr>
          <p:cNvPr id="18" name="Text 16"/>
          <p:cNvSpPr/>
          <p:nvPr/>
        </p:nvSpPr>
        <p:spPr>
          <a:xfrm>
            <a:off x="6413500" y="4236720"/>
            <a:ext cx="4879213"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5F3EC"/>
                </a:solidFill>
                <a:latin typeface="Arial" pitchFamily="34" charset="0"/>
                <a:ea typeface="Arial" pitchFamily="34" charset="-122"/>
                <a:cs typeface="Arial" pitchFamily="34" charset="-120"/>
              </a:rPr>
              <a:t>Reports ELF 32-bit LSB executable, ARM, EABI5. An x86-64 CPU cannot run ARM instructions directly.</a:t>
            </a:r>
            <a:endParaRPr lang="en-US" sz="1300" dirty="0"/>
          </a:p>
        </p:txBody>
      </p:sp>
      <p:sp>
        <p:nvSpPr>
          <p:cNvPr id="19" name="Text 17"/>
          <p:cNvSpPr/>
          <p:nvPr/>
        </p:nvSpPr>
        <p:spPr>
          <a:xfrm>
            <a:off x="812800" y="6238241"/>
            <a:ext cx="363540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Arial" pitchFamily="34" charset="0"/>
                <a:ea typeface="Arial" pitchFamily="34" charset="-122"/>
                <a:cs typeface="Arial" pitchFamily="34" charset="-120"/>
              </a:rPr>
              <a:t>COA Assignment 1 · NIT Srinagar · Q2 to Q4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54864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C2333"/>
                </a:solidFill>
                <a:latin typeface="Georgia" pitchFamily="18" charset="0"/>
                <a:ea typeface="Georgia" pitchFamily="18" charset="-122"/>
                <a:cs typeface="Georgia" pitchFamily="18" charset="-120"/>
              </a:rPr>
              <a:t>Hello World in ARM assembly</a:t>
            </a:r>
            <a:endParaRPr lang="en-US" sz="3600" dirty="0"/>
          </a:p>
        </p:txBody>
      </p:sp>
      <p:sp>
        <p:nvSpPr>
          <p:cNvPr id="3" name="Text 1"/>
          <p:cNvSpPr/>
          <p:nvPr/>
        </p:nvSpPr>
        <p:spPr>
          <a:xfrm>
            <a:off x="812800" y="1299210"/>
            <a:ext cx="1088339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1C2333"/>
                </a:solidFill>
                <a:latin typeface="Aptos" panose="020B0004020202020204" pitchFamily="34" charset="0"/>
                <a:ea typeface="Arial" pitchFamily="34" charset="-122"/>
                <a:cs typeface="Arial" pitchFamily="34" charset="-120"/>
              </a:rPr>
              <a:t>The compiler turns </a:t>
            </a:r>
            <a:r>
              <a:rPr lang="en-US" sz="1500" b="1" dirty="0">
                <a:solidFill>
                  <a:srgbClr val="1C2333"/>
                </a:solidFill>
                <a:latin typeface="Aptos" panose="020B0004020202020204" pitchFamily="34" charset="0"/>
                <a:ea typeface="Arial" pitchFamily="34" charset="-122"/>
                <a:cs typeface="Arial" pitchFamily="34" charset="-120"/>
              </a:rPr>
              <a:t>printf("Hello World\n")</a:t>
            </a:r>
            <a:r>
              <a:rPr lang="en-US" sz="1500" dirty="0">
                <a:solidFill>
                  <a:srgbClr val="1C2333"/>
                </a:solidFill>
                <a:latin typeface="Aptos" panose="020B0004020202020204" pitchFamily="34" charset="0"/>
                <a:ea typeface="Arial" pitchFamily="34" charset="-122"/>
                <a:cs typeface="Arial" pitchFamily="34" charset="-120"/>
              </a:rPr>
              <a:t> into a call to </a:t>
            </a:r>
            <a:r>
              <a:rPr lang="en-US" sz="1500" b="1" dirty="0">
                <a:solidFill>
                  <a:srgbClr val="1C2333"/>
                </a:solidFill>
                <a:latin typeface="Aptos" panose="020B0004020202020204" pitchFamily="34" charset="0"/>
                <a:ea typeface="Arial" pitchFamily="34" charset="-122"/>
                <a:cs typeface="Arial" pitchFamily="34" charset="-120"/>
              </a:rPr>
              <a:t>puts</a:t>
            </a:r>
            <a:r>
              <a:rPr lang="en-US" sz="1500" dirty="0">
                <a:solidFill>
                  <a:srgbClr val="1C2333"/>
                </a:solidFill>
                <a:latin typeface="Aptos" panose="020B0004020202020204" pitchFamily="34" charset="0"/>
                <a:ea typeface="Arial" pitchFamily="34" charset="-122"/>
                <a:cs typeface="Arial" pitchFamily="34" charset="-120"/>
              </a:rPr>
              <a:t>, because the string has no format specifiers. The text sits in the read-only data section (.rodata).</a:t>
            </a:r>
            <a:endParaRPr lang="en-US" sz="1500" dirty="0">
              <a:latin typeface="Aptos" panose="020B0004020202020204" pitchFamily="34" charset="0"/>
            </a:endParaRPr>
          </a:p>
        </p:txBody>
      </p:sp>
      <p:graphicFrame>
        <p:nvGraphicFramePr>
          <p:cNvPr id="4" name="Table 0"/>
          <p:cNvGraphicFramePr>
            <a:graphicFrameLocks noGrp="1"/>
          </p:cNvGraphicFramePr>
          <p:nvPr>
            <p:extLst>
              <p:ext uri="{D42A27DB-BD31-4B8C-83A1-F6EECF244321}">
                <p14:modId xmlns:p14="http://schemas.microsoft.com/office/powerpoint/2010/main" val="1711256618"/>
              </p:ext>
            </p:extLst>
          </p:nvPr>
        </p:nvGraphicFramePr>
        <p:xfrm>
          <a:off x="822960" y="2109470"/>
          <a:ext cx="10556240" cy="4085625"/>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534271">
                <a:tc>
                  <a:txBody>
                    <a:bodyPr/>
                    <a:lstStyle/>
                    <a:p>
                      <a:pPr marL="0" indent="0">
                        <a:lnSpc>
                          <a:spcPts val="1960"/>
                        </a:lnSpc>
                        <a:buNone/>
                      </a:pPr>
                      <a:r>
                        <a:rPr lang="en-US" sz="1400" b="1" dirty="0">
                          <a:solidFill>
                            <a:srgbClr val="1C2333"/>
                          </a:solidFill>
                          <a:latin typeface="Arial" pitchFamily="34" charset="0"/>
                          <a:ea typeface="Arial" pitchFamily="34" charset="-122"/>
                          <a:cs typeface="Arial" pitchFamily="34" charset="-120"/>
                        </a:rPr>
                        <a:t>Instruction</a:t>
                      </a:r>
                      <a:endParaRPr lang="en-US" sz="1400" dirty="0">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marL="0" indent="0">
                        <a:lnSpc>
                          <a:spcPts val="1960"/>
                        </a:lnSpc>
                        <a:buNone/>
                      </a:pPr>
                      <a:r>
                        <a:rPr lang="en-US" sz="1400" b="1" dirty="0">
                          <a:solidFill>
                            <a:srgbClr val="1C2333"/>
                          </a:solidFill>
                          <a:latin typeface="Arial" pitchFamily="34" charset="0"/>
                          <a:ea typeface="Arial" pitchFamily="34" charset="-122"/>
                          <a:cs typeface="Arial" pitchFamily="34" charset="-120"/>
                        </a:rPr>
                        <a:t>Meaning</a:t>
                      </a:r>
                      <a:endParaRPr lang="en-US" sz="1400" dirty="0">
                        <a:latin typeface="Arial" charset="0"/>
                        <a:ea typeface="Arial" charset="0"/>
                        <a:cs typeface="Arial" charset="0"/>
                      </a:endParaRPr>
                    </a:p>
                  </a:txBody>
                  <a:tcPr marL="62230" marR="62230" marT="62230" marB="62230">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extLst>
                  <a:ext uri="{0D108BD9-81ED-4DB2-BD59-A6C34878D82A}">
                    <a16:rowId xmlns:a16="http://schemas.microsoft.com/office/drawing/2014/main" val="10000"/>
                  </a:ext>
                </a:extLst>
              </a:tr>
              <a:tr h="534271">
                <a:tc>
                  <a:txBody>
                    <a:bodyPr/>
                    <a:lstStyle/>
                    <a:p>
                      <a:pPr marL="0" indent="0">
                        <a:lnSpc>
                          <a:spcPts val="1960"/>
                        </a:lnSpc>
                        <a:buNone/>
                      </a:pPr>
                      <a:r>
                        <a:rPr lang="en-US" sz="1400" dirty="0">
                          <a:solidFill>
                            <a:srgbClr val="1C2333"/>
                          </a:solidFill>
                          <a:latin typeface="Arial" pitchFamily="34" charset="0"/>
                          <a:ea typeface="Arial" pitchFamily="34" charset="-122"/>
                          <a:cs typeface="Arial" pitchFamily="34" charset="-120"/>
                        </a:rPr>
                        <a:t>push {fp, lr}</a:t>
                      </a:r>
                      <a:endParaRPr lang="en-US" sz="1400" dirty="0">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C2333"/>
                          </a:solidFill>
                          <a:latin typeface="Arial" pitchFamily="34" charset="0"/>
                          <a:ea typeface="Arial" pitchFamily="34" charset="-122"/>
                          <a:cs typeface="Arial" pitchFamily="34" charset="-120"/>
                        </a:rPr>
                        <a:t>Saves the frame pointer and return address on the stack</a:t>
                      </a:r>
                      <a:endParaRPr lang="en-US" sz="1400" dirty="0">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1"/>
                  </a:ext>
                </a:extLst>
              </a:tr>
              <a:tr h="534271">
                <a:tc>
                  <a:txBody>
                    <a:bodyPr/>
                    <a:lstStyle/>
                    <a:p>
                      <a:pPr marL="0" indent="0">
                        <a:lnSpc>
                          <a:spcPts val="1960"/>
                        </a:lnSpc>
                        <a:buNone/>
                      </a:pPr>
                      <a:r>
                        <a:rPr lang="en-US" sz="1400" dirty="0">
                          <a:solidFill>
                            <a:srgbClr val="1C2333"/>
                          </a:solidFill>
                          <a:latin typeface="Arial" pitchFamily="34" charset="0"/>
                          <a:ea typeface="Arial" pitchFamily="34" charset="-122"/>
                          <a:cs typeface="Arial" pitchFamily="34" charset="-120"/>
                        </a:rPr>
                        <a:t>add fp, sp, #4</a:t>
                      </a:r>
                      <a:endParaRPr lang="en-US" sz="1400" dirty="0">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chemeClr val="bg2">
                              <a:lumMod val="50000"/>
                            </a:schemeClr>
                          </a:solidFill>
                        </a:rPr>
                        <a:t>Adds 4 bytes to the stack pointer  and stores the result in the frame pointer </a:t>
                      </a:r>
                      <a:endParaRPr lang="en-US" sz="1400" dirty="0">
                        <a:solidFill>
                          <a:schemeClr val="bg2">
                            <a:lumMod val="50000"/>
                          </a:schemeClr>
                        </a:solidFill>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2"/>
                  </a:ext>
                </a:extLst>
              </a:tr>
              <a:tr h="534271">
                <a:tc>
                  <a:txBody>
                    <a:bodyPr/>
                    <a:lstStyle/>
                    <a:p>
                      <a:pPr marL="0" indent="0">
                        <a:lnSpc>
                          <a:spcPts val="1960"/>
                        </a:lnSpc>
                        <a:buNone/>
                      </a:pPr>
                      <a:r>
                        <a:rPr lang="en-US" sz="1400" dirty="0">
                          <a:solidFill>
                            <a:srgbClr val="1C2333"/>
                          </a:solidFill>
                          <a:latin typeface="Arial" pitchFamily="34" charset="0"/>
                          <a:ea typeface="Arial" pitchFamily="34" charset="-122"/>
                          <a:cs typeface="Arial" pitchFamily="34" charset="-120"/>
                        </a:rPr>
                        <a:t>ldr r0, .L3</a:t>
                      </a:r>
                      <a:endParaRPr lang="en-US" sz="1400" dirty="0">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C2333"/>
                          </a:solidFill>
                          <a:latin typeface="Arial" pitchFamily="34" charset="0"/>
                          <a:ea typeface="Arial" pitchFamily="34" charset="-122"/>
                          <a:cs typeface="Arial" pitchFamily="34" charset="-120"/>
                        </a:rPr>
                        <a:t>Loads the string address into r0, the first argument</a:t>
                      </a:r>
                      <a:endParaRPr lang="en-US" sz="1400" dirty="0">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3"/>
                  </a:ext>
                </a:extLst>
              </a:tr>
              <a:tr h="534271">
                <a:tc>
                  <a:txBody>
                    <a:bodyPr/>
                    <a:lstStyle/>
                    <a:p>
                      <a:pPr marL="0" indent="0">
                        <a:lnSpc>
                          <a:spcPts val="1960"/>
                        </a:lnSpc>
                        <a:buNone/>
                      </a:pPr>
                      <a:r>
                        <a:rPr lang="en-US" sz="1400" dirty="0">
                          <a:solidFill>
                            <a:srgbClr val="1C2333"/>
                          </a:solidFill>
                          <a:latin typeface="Arial" pitchFamily="34" charset="0"/>
                          <a:ea typeface="Arial" pitchFamily="34" charset="-122"/>
                          <a:cs typeface="Arial" pitchFamily="34" charset="-120"/>
                        </a:rPr>
                        <a:t>bl puts</a:t>
                      </a:r>
                      <a:endParaRPr lang="en-US" sz="1400" dirty="0">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chemeClr val="bg2">
                              <a:lumMod val="50000"/>
                            </a:schemeClr>
                          </a:solidFill>
                        </a:rPr>
                        <a:t>Calls the </a:t>
                      </a:r>
                      <a:r>
                        <a:rPr lang="en-US" sz="1800" kern="1200" dirty="0">
                          <a:solidFill>
                            <a:schemeClr val="bg2">
                              <a:lumMod val="50000"/>
                            </a:schemeClr>
                          </a:solidFill>
                          <a:latin typeface="+mn-lt"/>
                          <a:ea typeface="+mn-ea"/>
                          <a:cs typeface="+mn-cs"/>
                        </a:rPr>
                        <a:t>puts</a:t>
                      </a:r>
                      <a:r>
                        <a:rPr lang="en-US" sz="1400" dirty="0">
                          <a:solidFill>
                            <a:schemeClr val="bg2">
                              <a:lumMod val="50000"/>
                            </a:schemeClr>
                          </a:solidFill>
                        </a:rPr>
                        <a:t> function to print a string</a:t>
                      </a:r>
                      <a:endParaRPr lang="en-US" sz="1400" dirty="0">
                        <a:solidFill>
                          <a:schemeClr val="bg2">
                            <a:lumMod val="50000"/>
                          </a:schemeClr>
                        </a:solidFill>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4"/>
                  </a:ext>
                </a:extLst>
              </a:tr>
              <a:tr h="730103">
                <a:tc>
                  <a:txBody>
                    <a:bodyPr/>
                    <a:lstStyle/>
                    <a:p>
                      <a:pPr marL="0" indent="0">
                        <a:lnSpc>
                          <a:spcPts val="1960"/>
                        </a:lnSpc>
                        <a:buNone/>
                      </a:pPr>
                      <a:r>
                        <a:rPr lang="en-US" sz="1400" dirty="0">
                          <a:solidFill>
                            <a:srgbClr val="1C2333"/>
                          </a:solidFill>
                          <a:latin typeface="Arial" pitchFamily="34" charset="0"/>
                          <a:ea typeface="Arial" pitchFamily="34" charset="-122"/>
                          <a:cs typeface="Arial" pitchFamily="34" charset="-120"/>
                        </a:rPr>
                        <a:t>mov r3, #0 </a:t>
                      </a:r>
                    </a:p>
                    <a:p>
                      <a:pPr marL="0" indent="0">
                        <a:lnSpc>
                          <a:spcPts val="1960"/>
                        </a:lnSpc>
                        <a:buNone/>
                      </a:pPr>
                      <a:r>
                        <a:rPr lang="en-US" sz="1400" dirty="0">
                          <a:solidFill>
                            <a:srgbClr val="1C2333"/>
                          </a:solidFill>
                          <a:latin typeface="Arial" pitchFamily="34" charset="0"/>
                          <a:ea typeface="Arial" pitchFamily="34" charset="-122"/>
                          <a:cs typeface="Arial" pitchFamily="34" charset="-120"/>
                        </a:rPr>
                        <a:t>mov r0, r3</a:t>
                      </a:r>
                      <a:endParaRPr lang="en-US" sz="1400" dirty="0">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rgbClr val="1C2333"/>
                          </a:solidFill>
                          <a:latin typeface="Arial" pitchFamily="34" charset="0"/>
                          <a:ea typeface="Arial" pitchFamily="34" charset="-122"/>
                          <a:cs typeface="Arial" pitchFamily="34" charset="-120"/>
                        </a:rPr>
                        <a:t>Puts the return value 0 into r0</a:t>
                      </a:r>
                    </a:p>
                    <a:p>
                      <a:pPr marL="0" indent="0">
                        <a:lnSpc>
                          <a:spcPts val="1960"/>
                        </a:lnSpc>
                        <a:buNone/>
                      </a:pPr>
                      <a:r>
                        <a:rPr lang="en-US" sz="1400" dirty="0">
                          <a:solidFill>
                            <a:schemeClr val="bg2">
                              <a:lumMod val="50000"/>
                            </a:schemeClr>
                          </a:solidFill>
                        </a:rPr>
                        <a:t>Copies the value of r3 into r0</a:t>
                      </a:r>
                      <a:endParaRPr lang="en-US" sz="1400" dirty="0">
                        <a:solidFill>
                          <a:schemeClr val="bg2">
                            <a:lumMod val="50000"/>
                          </a:schemeClr>
                        </a:solidFill>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5"/>
                  </a:ext>
                </a:extLst>
              </a:tr>
              <a:tr h="534271">
                <a:tc>
                  <a:txBody>
                    <a:bodyPr/>
                    <a:lstStyle/>
                    <a:p>
                      <a:pPr marL="0" indent="0">
                        <a:lnSpc>
                          <a:spcPts val="1960"/>
                        </a:lnSpc>
                        <a:buNone/>
                      </a:pPr>
                      <a:r>
                        <a:rPr lang="en-US" sz="1400" dirty="0">
                          <a:solidFill>
                            <a:srgbClr val="1C2333"/>
                          </a:solidFill>
                          <a:latin typeface="Arial" pitchFamily="34" charset="0"/>
                          <a:ea typeface="Arial" pitchFamily="34" charset="-122"/>
                          <a:cs typeface="Arial" pitchFamily="34" charset="-120"/>
                        </a:rPr>
                        <a:t>pop {fp, pc}</a:t>
                      </a:r>
                      <a:endParaRPr lang="en-US" sz="1400" dirty="0">
                        <a:latin typeface="Arial" charset="0"/>
                        <a:ea typeface="Arial" charset="0"/>
                        <a:cs typeface="Arial" charset="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marL="0" indent="0">
                        <a:lnSpc>
                          <a:spcPts val="1960"/>
                        </a:lnSpc>
                        <a:buNone/>
                      </a:pPr>
                      <a:r>
                        <a:rPr lang="en-US" sz="1400" dirty="0">
                          <a:solidFill>
                            <a:schemeClr val="bg2">
                              <a:lumMod val="50000"/>
                            </a:schemeClr>
                          </a:solidFill>
                        </a:rPr>
                        <a:t>Restores the saved frame pointer (</a:t>
                      </a:r>
                      <a:r>
                        <a:rPr lang="en-US" sz="1800" kern="1200" dirty="0" err="1">
                          <a:solidFill>
                            <a:schemeClr val="bg2">
                              <a:lumMod val="50000"/>
                            </a:schemeClr>
                          </a:solidFill>
                          <a:latin typeface="+mn-lt"/>
                          <a:ea typeface="+mn-ea"/>
                          <a:cs typeface="+mn-cs"/>
                        </a:rPr>
                        <a:t>fp</a:t>
                      </a:r>
                      <a:r>
                        <a:rPr lang="en-US" sz="1400" dirty="0">
                          <a:solidFill>
                            <a:schemeClr val="bg2">
                              <a:lumMod val="50000"/>
                            </a:schemeClr>
                          </a:solidFill>
                        </a:rPr>
                        <a:t>) from the stack and loads the saved return address into the program counter</a:t>
                      </a:r>
                      <a:endParaRPr lang="en-US" sz="1400" dirty="0">
                        <a:solidFill>
                          <a:schemeClr val="bg2">
                            <a:lumMod val="50000"/>
                          </a:schemeClr>
                        </a:solidFill>
                        <a:latin typeface="Arial" pitchFamily="34" charset="0"/>
                        <a:ea typeface="Arial" pitchFamily="34" charset="-122"/>
                        <a:cs typeface="Arial" pitchFamily="34" charset="-120"/>
                      </a:endParaRPr>
                    </a:p>
                  </a:txBody>
                  <a:tcPr marL="62230" marR="62230" marT="62230" marB="62230">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812800" y="6238239"/>
            <a:ext cx="31373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Arial" pitchFamily="34" charset="0"/>
                <a:ea typeface="Arial" pitchFamily="34" charset="-122"/>
                <a:cs typeface="Arial" pitchFamily="34" charset="-120"/>
              </a:rPr>
              <a:t>COA Assignment 1 · NIT Srinagar · Q3</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471906"/>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C2333"/>
                </a:solidFill>
                <a:latin typeface="Georgia" pitchFamily="18" charset="0"/>
                <a:ea typeface="Georgia" pitchFamily="18" charset="-122"/>
                <a:cs typeface="Georgia" pitchFamily="18" charset="-120"/>
              </a:rPr>
              <a:t>Running ARM programs with QEMU</a:t>
            </a:r>
            <a:endParaRPr lang="en-US" sz="3600" dirty="0"/>
          </a:p>
        </p:txBody>
      </p:sp>
      <p:sp>
        <p:nvSpPr>
          <p:cNvPr id="3" name="Text 1"/>
          <p:cNvSpPr/>
          <p:nvPr/>
        </p:nvSpPr>
        <p:spPr>
          <a:xfrm>
            <a:off x="812800" y="1262228"/>
            <a:ext cx="10883392" cy="1248094"/>
          </a:xfrm>
          <a:prstGeom prst="rect">
            <a:avLst/>
          </a:prstGeom>
          <a:noFill/>
          <a:ln/>
        </p:spPr>
        <p:txBody>
          <a:bodyPr wrap="square" lIns="0" tIns="0" rIns="0" bIns="0" rtlCol="0" anchor="t">
            <a:normAutofit/>
          </a:bodyPr>
          <a:lstStyle/>
          <a:p>
            <a:r>
              <a:rPr lang="en-US" sz="2000" dirty="0">
                <a:solidFill>
                  <a:schemeClr val="bg2">
                    <a:lumMod val="50000"/>
                  </a:schemeClr>
                </a:solidFill>
                <a:latin typeface="Aptos" panose="020B0004020202020204" pitchFamily="34" charset="0"/>
              </a:rPr>
              <a:t>ARM Executables Cannot Run Directly on x86-64 Systems</a:t>
            </a:r>
          </a:p>
          <a:p>
            <a:r>
              <a:rPr lang="en-US" sz="2000" dirty="0">
                <a:solidFill>
                  <a:schemeClr val="bg2">
                    <a:lumMod val="50000"/>
                  </a:schemeClr>
                </a:solidFill>
                <a:latin typeface="Aptos" panose="020B0004020202020204" pitchFamily="34" charset="0"/>
              </a:rPr>
              <a:t>ARM and x86-64 processors use different instruction sets, so they cannot directly execute each other’s machine instructions. QEMU solves this problem by emulating the ARM environment and translating ARM instructions for execution on the x86-64 host system</a:t>
            </a:r>
            <a:r>
              <a:rPr lang="en-US" sz="1600" dirty="0">
                <a:solidFill>
                  <a:schemeClr val="bg2">
                    <a:lumMod val="50000"/>
                  </a:schemeClr>
                </a:solidFill>
                <a:latin typeface="Aptos" panose="020B0004020202020204" pitchFamily="34" charset="0"/>
              </a:rPr>
              <a:t>.</a:t>
            </a:r>
          </a:p>
        </p:txBody>
      </p:sp>
      <p:sp>
        <p:nvSpPr>
          <p:cNvPr id="4" name="Text 2"/>
          <p:cNvSpPr/>
          <p:nvPr/>
        </p:nvSpPr>
        <p:spPr>
          <a:xfrm>
            <a:off x="805180" y="2921201"/>
            <a:ext cx="2254250" cy="709930"/>
          </a:xfrm>
          <a:prstGeom prst="roundRect">
            <a:avLst>
              <a:gd name="adj" fmla="val 13864"/>
            </a:avLst>
          </a:prstGeom>
          <a:solidFill>
            <a:srgbClr val="FFFFFF"/>
          </a:solidFill>
          <a:ln w="6350">
            <a:solidFill>
              <a:srgbClr val="D9D5C8"/>
            </a:solidFill>
            <a:prstDash val="solid"/>
          </a:ln>
        </p:spPr>
        <p:txBody>
          <a:bodyPr wrap="square" lIns="174779" tIns="201677" rIns="174779" bIns="176277" rtlCol="0" anchor="t">
            <a:normAutofit/>
          </a:bodyPr>
          <a:lstStyle/>
          <a:p>
            <a:pPr marL="0" indent="0" algn="ctr">
              <a:lnSpc>
                <a:spcPts val="1960"/>
              </a:lnSpc>
              <a:buNone/>
            </a:pPr>
            <a:r>
              <a:rPr lang="en-US" sz="1400" b="1" dirty="0">
                <a:solidFill>
                  <a:srgbClr val="1C2333"/>
                </a:solidFill>
                <a:latin typeface="Arial" pitchFamily="34" charset="0"/>
                <a:ea typeface="Arial" pitchFamily="34" charset="-122"/>
                <a:cs typeface="Arial" pitchFamily="34" charset="-120"/>
              </a:rPr>
              <a:t>Ubuntu host x86-64</a:t>
            </a:r>
            <a:endParaRPr lang="en-US" sz="1400" dirty="0"/>
          </a:p>
        </p:txBody>
      </p:sp>
      <p:sp>
        <p:nvSpPr>
          <p:cNvPr id="5" name="Text 3"/>
          <p:cNvSpPr/>
          <p:nvPr/>
        </p:nvSpPr>
        <p:spPr>
          <a:xfrm>
            <a:off x="3200400" y="3112754"/>
            <a:ext cx="304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C2333"/>
                </a:solidFill>
                <a:latin typeface="Arial" pitchFamily="34" charset="0"/>
                <a:ea typeface="Arial" pitchFamily="34" charset="-122"/>
                <a:cs typeface="Arial" pitchFamily="34" charset="-120"/>
              </a:rPr>
              <a:t>→</a:t>
            </a:r>
            <a:endParaRPr lang="en-US" sz="2000" dirty="0"/>
          </a:p>
        </p:txBody>
      </p:sp>
      <p:sp>
        <p:nvSpPr>
          <p:cNvPr id="6" name="Text 4"/>
          <p:cNvSpPr/>
          <p:nvPr/>
        </p:nvSpPr>
        <p:spPr>
          <a:xfrm>
            <a:off x="3573780" y="2933609"/>
            <a:ext cx="2254250" cy="709930"/>
          </a:xfrm>
          <a:prstGeom prst="roundRect">
            <a:avLst>
              <a:gd name="adj" fmla="val 13864"/>
            </a:avLst>
          </a:prstGeom>
          <a:solidFill>
            <a:srgbClr val="FFFFFF"/>
          </a:solidFill>
          <a:ln w="6350">
            <a:solidFill>
              <a:srgbClr val="D9D5C8"/>
            </a:solidFill>
            <a:prstDash val="solid"/>
          </a:ln>
        </p:spPr>
        <p:txBody>
          <a:bodyPr wrap="square" lIns="174779" tIns="201677" rIns="174779" bIns="176277" rtlCol="0" anchor="t">
            <a:normAutofit/>
          </a:bodyPr>
          <a:lstStyle/>
          <a:p>
            <a:pPr marL="0" indent="0" algn="ctr">
              <a:lnSpc>
                <a:spcPts val="1960"/>
              </a:lnSpc>
              <a:buNone/>
            </a:pPr>
            <a:r>
              <a:rPr lang="en-US" sz="1400" b="1" dirty="0">
                <a:solidFill>
                  <a:srgbClr val="1C2333"/>
                </a:solidFill>
                <a:latin typeface="Arial" pitchFamily="34" charset="0"/>
                <a:ea typeface="Arial" pitchFamily="34" charset="-122"/>
                <a:cs typeface="Arial" pitchFamily="34" charset="-120"/>
              </a:rPr>
              <a:t>qemu-arm emulator</a:t>
            </a:r>
            <a:endParaRPr lang="en-US" sz="1400" dirty="0"/>
          </a:p>
        </p:txBody>
      </p:sp>
      <p:sp>
        <p:nvSpPr>
          <p:cNvPr id="7" name="Text 5"/>
          <p:cNvSpPr/>
          <p:nvPr/>
        </p:nvSpPr>
        <p:spPr>
          <a:xfrm>
            <a:off x="5936916" y="3163012"/>
            <a:ext cx="304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C2333"/>
                </a:solidFill>
                <a:latin typeface="Arial" pitchFamily="34" charset="0"/>
                <a:ea typeface="Arial" pitchFamily="34" charset="-122"/>
                <a:cs typeface="Arial" pitchFamily="34" charset="-120"/>
              </a:rPr>
              <a:t>→</a:t>
            </a:r>
            <a:endParaRPr lang="en-US" sz="2000" dirty="0"/>
          </a:p>
        </p:txBody>
      </p:sp>
      <p:sp>
        <p:nvSpPr>
          <p:cNvPr id="8" name="Text 6"/>
          <p:cNvSpPr/>
          <p:nvPr/>
        </p:nvSpPr>
        <p:spPr>
          <a:xfrm>
            <a:off x="6342380" y="2919019"/>
            <a:ext cx="2254250" cy="709930"/>
          </a:xfrm>
          <a:prstGeom prst="roundRect">
            <a:avLst>
              <a:gd name="adj" fmla="val 13864"/>
            </a:avLst>
          </a:prstGeom>
          <a:solidFill>
            <a:srgbClr val="FFFFFF"/>
          </a:solidFill>
          <a:ln w="6350">
            <a:solidFill>
              <a:srgbClr val="D9D5C8"/>
            </a:solidFill>
            <a:prstDash val="solid"/>
          </a:ln>
        </p:spPr>
        <p:txBody>
          <a:bodyPr wrap="square" lIns="174779" tIns="201677" rIns="174778" bIns="176277" rtlCol="0" anchor="t">
            <a:normAutofit/>
          </a:bodyPr>
          <a:lstStyle/>
          <a:p>
            <a:pPr marL="0" indent="0" algn="ctr">
              <a:lnSpc>
                <a:spcPts val="1960"/>
              </a:lnSpc>
              <a:buNone/>
            </a:pPr>
            <a:r>
              <a:rPr lang="en-US" sz="1400" b="1" dirty="0">
                <a:solidFill>
                  <a:srgbClr val="1C2333"/>
                </a:solidFill>
                <a:latin typeface="Arial" pitchFamily="34" charset="0"/>
                <a:ea typeface="Arial" pitchFamily="34" charset="-122"/>
                <a:cs typeface="Arial" pitchFamily="34" charset="-120"/>
              </a:rPr>
              <a:t>ARM executable</a:t>
            </a:r>
            <a:endParaRPr lang="en-US" sz="1400" dirty="0"/>
          </a:p>
        </p:txBody>
      </p:sp>
      <p:sp>
        <p:nvSpPr>
          <p:cNvPr id="9" name="Text 7"/>
          <p:cNvSpPr/>
          <p:nvPr/>
        </p:nvSpPr>
        <p:spPr>
          <a:xfrm>
            <a:off x="8737600" y="3136467"/>
            <a:ext cx="304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1C2333"/>
                </a:solidFill>
                <a:latin typeface="Arial" pitchFamily="34" charset="0"/>
                <a:ea typeface="Arial" pitchFamily="34" charset="-122"/>
                <a:cs typeface="Arial" pitchFamily="34" charset="-120"/>
              </a:rPr>
              <a:t>→</a:t>
            </a:r>
            <a:endParaRPr lang="en-US" sz="2000" dirty="0"/>
          </a:p>
        </p:txBody>
      </p:sp>
      <p:sp>
        <p:nvSpPr>
          <p:cNvPr id="10" name="Text 8"/>
          <p:cNvSpPr/>
          <p:nvPr/>
        </p:nvSpPr>
        <p:spPr>
          <a:xfrm>
            <a:off x="9042400" y="2919019"/>
            <a:ext cx="2254250" cy="709930"/>
          </a:xfrm>
          <a:prstGeom prst="roundRect">
            <a:avLst>
              <a:gd name="adj" fmla="val 13864"/>
            </a:avLst>
          </a:prstGeom>
          <a:solidFill>
            <a:srgbClr val="FFFFFF"/>
          </a:solidFill>
          <a:ln w="6350">
            <a:solidFill>
              <a:srgbClr val="D9D5C8"/>
            </a:solidFill>
            <a:prstDash val="solid"/>
          </a:ln>
        </p:spPr>
        <p:txBody>
          <a:bodyPr wrap="square" lIns="174779" tIns="201677" rIns="174778" bIns="176277" rtlCol="0" anchor="t">
            <a:normAutofit/>
          </a:bodyPr>
          <a:lstStyle/>
          <a:p>
            <a:pPr marL="0" indent="0" algn="ctr">
              <a:lnSpc>
                <a:spcPts val="1960"/>
              </a:lnSpc>
              <a:buNone/>
            </a:pPr>
            <a:r>
              <a:rPr lang="en-US" sz="1400" b="1" dirty="0">
                <a:solidFill>
                  <a:srgbClr val="1C2333"/>
                </a:solidFill>
                <a:latin typeface="Arial" pitchFamily="34" charset="0"/>
                <a:ea typeface="Arial" pitchFamily="34" charset="-122"/>
                <a:cs typeface="Arial" pitchFamily="34" charset="-120"/>
              </a:rPr>
              <a:t>Program output</a:t>
            </a:r>
            <a:endParaRPr lang="en-US" sz="1400" dirty="0"/>
          </a:p>
        </p:txBody>
      </p:sp>
      <p:sp>
        <p:nvSpPr>
          <p:cNvPr id="11" name="Shape 9"/>
          <p:cNvSpPr/>
          <p:nvPr/>
        </p:nvSpPr>
        <p:spPr>
          <a:xfrm>
            <a:off x="805180" y="3846397"/>
            <a:ext cx="10566400" cy="1259840"/>
          </a:xfrm>
          <a:prstGeom prst="roundRect">
            <a:avLst>
              <a:gd name="adj" fmla="val 8065"/>
            </a:avLst>
          </a:prstGeom>
          <a:solidFill>
            <a:srgbClr val="121A2B"/>
          </a:solidFill>
          <a:ln/>
        </p:spPr>
        <p:txBody>
          <a:bodyPr/>
          <a:lstStyle/>
          <a:p>
            <a:endParaRPr lang="en-IN"/>
          </a:p>
        </p:txBody>
      </p:sp>
      <p:sp>
        <p:nvSpPr>
          <p:cNvPr id="12" name="Text 10"/>
          <p:cNvSpPr/>
          <p:nvPr/>
        </p:nvSpPr>
        <p:spPr>
          <a:xfrm>
            <a:off x="1015873" y="4045063"/>
            <a:ext cx="1036015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0B35A"/>
                </a:solidFill>
                <a:latin typeface="Courier New" pitchFamily="49" charset="0"/>
                <a:ea typeface="Courier New" pitchFamily="49" charset="-122"/>
                <a:cs typeface="Courier New" pitchFamily="49" charset="-120"/>
              </a:rPr>
              <a:t>$ sudo apt install qemu-user</a:t>
            </a:r>
            <a:endParaRPr lang="en-US" sz="1600" dirty="0"/>
          </a:p>
        </p:txBody>
      </p:sp>
      <p:sp>
        <p:nvSpPr>
          <p:cNvPr id="13" name="Text 11"/>
          <p:cNvSpPr/>
          <p:nvPr/>
        </p:nvSpPr>
        <p:spPr>
          <a:xfrm>
            <a:off x="1011428" y="4396150"/>
            <a:ext cx="1036015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0B35A"/>
                </a:solidFill>
                <a:latin typeface="Courier New" pitchFamily="49" charset="0"/>
                <a:ea typeface="Courier New" pitchFamily="49" charset="-122"/>
                <a:cs typeface="Courier New" pitchFamily="49" charset="-120"/>
              </a:rPr>
              <a:t>$ qemu-arm -L /usr/arm-linux-gnueabi ./hello_world</a:t>
            </a:r>
            <a:endParaRPr lang="en-US" sz="1600" dirty="0"/>
          </a:p>
        </p:txBody>
      </p:sp>
      <p:sp>
        <p:nvSpPr>
          <p:cNvPr id="14" name="Text 12"/>
          <p:cNvSpPr/>
          <p:nvPr/>
        </p:nvSpPr>
        <p:spPr>
          <a:xfrm>
            <a:off x="1015873" y="4748793"/>
            <a:ext cx="1036015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3EC"/>
                </a:solidFill>
                <a:latin typeface="Courier New" pitchFamily="49" charset="0"/>
                <a:ea typeface="Courier New" pitchFamily="49" charset="-122"/>
                <a:cs typeface="Courier New" pitchFamily="49" charset="-120"/>
              </a:rPr>
              <a:t>Hello World</a:t>
            </a:r>
            <a:endParaRPr lang="en-US" sz="1600" dirty="0"/>
          </a:p>
        </p:txBody>
      </p:sp>
      <p:sp>
        <p:nvSpPr>
          <p:cNvPr id="15" name="Text 13"/>
          <p:cNvSpPr/>
          <p:nvPr/>
        </p:nvSpPr>
        <p:spPr>
          <a:xfrm>
            <a:off x="805180" y="5408622"/>
            <a:ext cx="10883392" cy="1155063"/>
          </a:xfrm>
          <a:prstGeom prst="rect">
            <a:avLst/>
          </a:prstGeom>
          <a:noFill/>
          <a:ln/>
        </p:spPr>
        <p:txBody>
          <a:bodyPr wrap="square" lIns="0" tIns="0" rIns="0" bIns="0" rtlCol="0" anchor="t">
            <a:normAutofit lnSpcReduction="10000"/>
          </a:bodyPr>
          <a:lstStyle/>
          <a:p>
            <a:pPr>
              <a:lnSpc>
                <a:spcPct val="150000"/>
              </a:lnSpc>
            </a:pPr>
            <a:r>
              <a:rPr lang="en-US" b="1" dirty="0">
                <a:solidFill>
                  <a:schemeClr val="bg2">
                    <a:lumMod val="50000"/>
                  </a:schemeClr>
                </a:solidFill>
              </a:rPr>
              <a:t>•     </a:t>
            </a:r>
            <a:r>
              <a:rPr lang="en-US" b="1" dirty="0" err="1">
                <a:solidFill>
                  <a:schemeClr val="bg2">
                    <a:lumMod val="50000"/>
                  </a:schemeClr>
                </a:solidFill>
              </a:rPr>
              <a:t>qemu</a:t>
            </a:r>
            <a:r>
              <a:rPr lang="en-US" b="1" dirty="0">
                <a:solidFill>
                  <a:schemeClr val="bg2">
                    <a:lumMod val="50000"/>
                  </a:schemeClr>
                </a:solidFill>
              </a:rPr>
              <a:t>-arm: </a:t>
            </a:r>
            <a:r>
              <a:rPr lang="en-US" dirty="0">
                <a:solidFill>
                  <a:schemeClr val="bg2">
                    <a:lumMod val="50000"/>
                  </a:schemeClr>
                </a:solidFill>
              </a:rPr>
              <a:t>Starts the ARM user-mode emulator. </a:t>
            </a:r>
          </a:p>
          <a:p>
            <a:pPr>
              <a:lnSpc>
                <a:spcPct val="150000"/>
              </a:lnSpc>
            </a:pPr>
            <a:r>
              <a:rPr lang="en-US" b="1" dirty="0">
                <a:solidFill>
                  <a:schemeClr val="bg2">
                    <a:lumMod val="50000"/>
                  </a:schemeClr>
                </a:solidFill>
              </a:rPr>
              <a:t>•     -L: </a:t>
            </a:r>
            <a:r>
              <a:rPr lang="en-US" dirty="0">
                <a:solidFill>
                  <a:schemeClr val="bg2">
                    <a:lumMod val="50000"/>
                  </a:schemeClr>
                </a:solidFill>
              </a:rPr>
              <a:t>Specifies the directory containing the ARM libraries. </a:t>
            </a:r>
          </a:p>
          <a:p>
            <a:pPr>
              <a:lnSpc>
                <a:spcPct val="150000"/>
              </a:lnSpc>
            </a:pPr>
            <a:r>
              <a:rPr lang="en-US" b="1" dirty="0">
                <a:solidFill>
                  <a:schemeClr val="bg2">
                    <a:lumMod val="50000"/>
                  </a:schemeClr>
                </a:solidFill>
              </a:rPr>
              <a:t>•     ./</a:t>
            </a:r>
            <a:r>
              <a:rPr lang="en-US" b="1" dirty="0" err="1">
                <a:solidFill>
                  <a:schemeClr val="bg2">
                    <a:lumMod val="50000"/>
                  </a:schemeClr>
                </a:solidFill>
              </a:rPr>
              <a:t>hello_world</a:t>
            </a:r>
            <a:r>
              <a:rPr lang="en-US" b="1" dirty="0">
                <a:solidFill>
                  <a:schemeClr val="bg2">
                    <a:lumMod val="50000"/>
                  </a:schemeClr>
                </a:solidFill>
              </a:rPr>
              <a:t>: </a:t>
            </a:r>
            <a:r>
              <a:rPr lang="en-US" dirty="0">
                <a:solidFill>
                  <a:schemeClr val="bg2">
                    <a:lumMod val="50000"/>
                  </a:schemeClr>
                </a:solidFill>
              </a:rPr>
              <a:t>Specifies the ARM executable.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A2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16841"/>
            <a:ext cx="10883392" cy="316296"/>
          </a:xfrm>
          <a:prstGeom prst="rect">
            <a:avLst/>
          </a:prstGeom>
          <a:noFill/>
          <a:ln/>
        </p:spPr>
        <p:txBody>
          <a:bodyPr wrap="square" lIns="0" tIns="0" rIns="0" bIns="0" rtlCol="0" anchor="t">
            <a:normAutofit fontScale="90000"/>
          </a:bodyPr>
          <a:lstStyle/>
          <a:p>
            <a:pPr>
              <a:lnSpc>
                <a:spcPts val="3960"/>
              </a:lnSpc>
            </a:pPr>
            <a:r>
              <a:rPr lang="en-US" sz="2800" b="1" dirty="0"/>
              <a:t>add.s: a=4 ; b=6 and c = a + b</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2688352937"/>
              </p:ext>
            </p:extLst>
          </p:nvPr>
        </p:nvGraphicFramePr>
        <p:xfrm>
          <a:off x="352926" y="6110705"/>
          <a:ext cx="11710740" cy="710822"/>
        </p:xfrm>
        <a:graphic>
          <a:graphicData uri="http://schemas.openxmlformats.org/drawingml/2006/table">
            <a:tbl>
              <a:tblPr/>
              <a:tblGrid>
                <a:gridCol w="2342148">
                  <a:extLst>
                    <a:ext uri="{9D8B030D-6E8A-4147-A177-3AD203B41FA5}">
                      <a16:colId xmlns:a16="http://schemas.microsoft.com/office/drawing/2014/main" val="20000"/>
                    </a:ext>
                  </a:extLst>
                </a:gridCol>
                <a:gridCol w="2342148">
                  <a:extLst>
                    <a:ext uri="{9D8B030D-6E8A-4147-A177-3AD203B41FA5}">
                      <a16:colId xmlns:a16="http://schemas.microsoft.com/office/drawing/2014/main" val="20001"/>
                    </a:ext>
                  </a:extLst>
                </a:gridCol>
                <a:gridCol w="2342148">
                  <a:extLst>
                    <a:ext uri="{9D8B030D-6E8A-4147-A177-3AD203B41FA5}">
                      <a16:colId xmlns:a16="http://schemas.microsoft.com/office/drawing/2014/main" val="20002"/>
                    </a:ext>
                  </a:extLst>
                </a:gridCol>
                <a:gridCol w="2342148">
                  <a:extLst>
                    <a:ext uri="{9D8B030D-6E8A-4147-A177-3AD203B41FA5}">
                      <a16:colId xmlns:a16="http://schemas.microsoft.com/office/drawing/2014/main" val="20003"/>
                    </a:ext>
                  </a:extLst>
                </a:gridCol>
                <a:gridCol w="2342148">
                  <a:extLst>
                    <a:ext uri="{9D8B030D-6E8A-4147-A177-3AD203B41FA5}">
                      <a16:colId xmlns:a16="http://schemas.microsoft.com/office/drawing/2014/main" val="20004"/>
                    </a:ext>
                  </a:extLst>
                </a:gridCol>
              </a:tblGrid>
              <a:tr h="355411">
                <a:tc>
                  <a:txBody>
                    <a:bodyPr/>
                    <a:lstStyle/>
                    <a:p>
                      <a:pPr marL="0" indent="0">
                        <a:lnSpc>
                          <a:spcPts val="1960"/>
                        </a:lnSpc>
                        <a:buNone/>
                      </a:pPr>
                      <a:r>
                        <a:rPr lang="en-US" sz="1400" b="1" dirty="0">
                          <a:solidFill>
                            <a:srgbClr val="F5F3EC"/>
                          </a:solidFill>
                          <a:latin typeface="Arial" pitchFamily="34" charset="0"/>
                          <a:ea typeface="Arial" pitchFamily="34" charset="-122"/>
                          <a:cs typeface="Arial" pitchFamily="34" charset="-120"/>
                        </a:rPr>
                        <a:t>Location</a:t>
                      </a:r>
                      <a:endParaRPr lang="en-US" sz="1400" dirty="0">
                        <a:latin typeface="Arial" charset="0"/>
                        <a:ea typeface="Arial" charset="0"/>
                        <a:cs typeface="Arial" charset="0"/>
                      </a:endParaRPr>
                    </a:p>
                  </a:txBody>
                  <a:tcPr marL="62230" marR="62230" marT="62230" marB="62230">
                    <a:lnL w="12700" cap="flat" cmpd="sng" algn="ctr">
                      <a:solidFill>
                        <a:srgbClr val="454B57"/>
                      </a:solidFill>
                      <a:prstDash val="solid"/>
                      <a:round/>
                      <a:headEnd type="none" w="med" len="med"/>
                      <a:tailEnd type="none" w="med" len="med"/>
                    </a:lnL>
                    <a:lnR w="12700" cap="flat" cmpd="sng" algn="ctr">
                      <a:solidFill>
                        <a:srgbClr val="545964"/>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545964"/>
                      </a:solidFill>
                      <a:prstDash val="solid"/>
                      <a:round/>
                      <a:headEnd type="none" w="med" len="med"/>
                      <a:tailEnd type="none" w="med" len="med"/>
                    </a:lnB>
                    <a:solidFill>
                      <a:srgbClr val="252C3B"/>
                    </a:solidFill>
                  </a:tcPr>
                </a:tc>
                <a:tc>
                  <a:txBody>
                    <a:bodyPr/>
                    <a:lstStyle/>
                    <a:p>
                      <a:pPr marL="0" indent="0">
                        <a:lnSpc>
                          <a:spcPts val="1960"/>
                        </a:lnSpc>
                        <a:buNone/>
                      </a:pPr>
                      <a:r>
                        <a:rPr lang="en-US" sz="1400" b="1" dirty="0">
                          <a:solidFill>
                            <a:srgbClr val="F5F3EC"/>
                          </a:solidFill>
                          <a:latin typeface="Arial" pitchFamily="34" charset="0"/>
                          <a:ea typeface="Arial" pitchFamily="34" charset="-122"/>
                          <a:cs typeface="Arial" pitchFamily="34" charset="-120"/>
                        </a:rPr>
                        <a:t>fp-16</a:t>
                      </a:r>
                      <a:endParaRPr lang="en-US" sz="1400" dirty="0">
                        <a:latin typeface="Arial" charset="0"/>
                        <a:ea typeface="Arial" charset="0"/>
                        <a:cs typeface="Arial" charset="0"/>
                      </a:endParaRPr>
                    </a:p>
                  </a:txBody>
                  <a:tcPr marL="62230" marR="62230" marT="62230" marB="62230">
                    <a:lnL w="12700" cap="flat" cmpd="sng" algn="ctr">
                      <a:solidFill>
                        <a:srgbClr val="545964"/>
                      </a:solidFill>
                      <a:prstDash val="solid"/>
                      <a:round/>
                      <a:headEnd type="none" w="med" len="med"/>
                      <a:tailEnd type="none" w="med" len="med"/>
                    </a:lnL>
                    <a:lnR w="12700" cap="flat" cmpd="sng" algn="ctr">
                      <a:solidFill>
                        <a:srgbClr val="545964"/>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545964"/>
                      </a:solidFill>
                      <a:prstDash val="solid"/>
                      <a:round/>
                      <a:headEnd type="none" w="med" len="med"/>
                      <a:tailEnd type="none" w="med" len="med"/>
                    </a:lnB>
                    <a:solidFill>
                      <a:srgbClr val="252C3B"/>
                    </a:solidFill>
                  </a:tcPr>
                </a:tc>
                <a:tc>
                  <a:txBody>
                    <a:bodyPr/>
                    <a:lstStyle/>
                    <a:p>
                      <a:pPr marL="0" indent="0">
                        <a:lnSpc>
                          <a:spcPts val="1960"/>
                        </a:lnSpc>
                        <a:buNone/>
                      </a:pPr>
                      <a:r>
                        <a:rPr lang="en-US" sz="1400" b="1" dirty="0">
                          <a:solidFill>
                            <a:srgbClr val="F5F3EC"/>
                          </a:solidFill>
                          <a:latin typeface="Arial" pitchFamily="34" charset="0"/>
                          <a:ea typeface="Arial" pitchFamily="34" charset="-122"/>
                          <a:cs typeface="Arial" pitchFamily="34" charset="-120"/>
                        </a:rPr>
                        <a:t>fp-20</a:t>
                      </a:r>
                      <a:endParaRPr lang="en-US" sz="1400" dirty="0">
                        <a:latin typeface="Arial" charset="0"/>
                        <a:ea typeface="Arial" charset="0"/>
                        <a:cs typeface="Arial" charset="0"/>
                      </a:endParaRPr>
                    </a:p>
                  </a:txBody>
                  <a:tcPr marL="62230" marR="62230" marT="62230" marB="62230">
                    <a:lnL w="12700" cap="flat" cmpd="sng" algn="ctr">
                      <a:solidFill>
                        <a:srgbClr val="545964"/>
                      </a:solidFill>
                      <a:prstDash val="solid"/>
                      <a:round/>
                      <a:headEnd type="none" w="med" len="med"/>
                      <a:tailEnd type="none" w="med" len="med"/>
                    </a:lnL>
                    <a:lnR w="12700" cap="flat" cmpd="sng" algn="ctr">
                      <a:solidFill>
                        <a:srgbClr val="545964"/>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545964"/>
                      </a:solidFill>
                      <a:prstDash val="solid"/>
                      <a:round/>
                      <a:headEnd type="none" w="med" len="med"/>
                      <a:tailEnd type="none" w="med" len="med"/>
                    </a:lnB>
                    <a:solidFill>
                      <a:srgbClr val="252C3B"/>
                    </a:solidFill>
                  </a:tcPr>
                </a:tc>
                <a:tc>
                  <a:txBody>
                    <a:bodyPr/>
                    <a:lstStyle/>
                    <a:p>
                      <a:pPr marL="0" indent="0">
                        <a:lnSpc>
                          <a:spcPts val="1960"/>
                        </a:lnSpc>
                        <a:buNone/>
                      </a:pPr>
                      <a:r>
                        <a:rPr lang="en-US" sz="1400" b="1" dirty="0">
                          <a:solidFill>
                            <a:srgbClr val="F5F3EC"/>
                          </a:solidFill>
                          <a:latin typeface="Arial" pitchFamily="34" charset="0"/>
                          <a:ea typeface="Arial" pitchFamily="34" charset="-122"/>
                          <a:cs typeface="Arial" pitchFamily="34" charset="-120"/>
                        </a:rPr>
                        <a:t>fp-24</a:t>
                      </a:r>
                      <a:endParaRPr lang="en-US" sz="1400" dirty="0">
                        <a:latin typeface="Arial" charset="0"/>
                        <a:ea typeface="Arial" charset="0"/>
                        <a:cs typeface="Arial" charset="0"/>
                      </a:endParaRPr>
                    </a:p>
                  </a:txBody>
                  <a:tcPr marL="62230" marR="62230" marT="62230" marB="62230">
                    <a:lnL w="12700" cap="flat" cmpd="sng" algn="ctr">
                      <a:solidFill>
                        <a:srgbClr val="545964"/>
                      </a:solidFill>
                      <a:prstDash val="solid"/>
                      <a:round/>
                      <a:headEnd type="none" w="med" len="med"/>
                      <a:tailEnd type="none" w="med" len="med"/>
                    </a:lnL>
                    <a:lnR w="12700" cap="flat" cmpd="sng" algn="ctr">
                      <a:solidFill>
                        <a:srgbClr val="545964"/>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545964"/>
                      </a:solidFill>
                      <a:prstDash val="solid"/>
                      <a:round/>
                      <a:headEnd type="none" w="med" len="med"/>
                      <a:tailEnd type="none" w="med" len="med"/>
                    </a:lnB>
                    <a:solidFill>
                      <a:srgbClr val="252C3B"/>
                    </a:solidFill>
                  </a:tcPr>
                </a:tc>
                <a:tc>
                  <a:txBody>
                    <a:bodyPr/>
                    <a:lstStyle/>
                    <a:p>
                      <a:pPr marL="0" indent="0">
                        <a:lnSpc>
                          <a:spcPts val="1960"/>
                        </a:lnSpc>
                        <a:buNone/>
                      </a:pPr>
                      <a:r>
                        <a:rPr lang="en-US" sz="1400" b="1" dirty="0">
                          <a:solidFill>
                            <a:srgbClr val="F5F3EC"/>
                          </a:solidFill>
                          <a:latin typeface="Arial" pitchFamily="34" charset="0"/>
                          <a:ea typeface="Arial" pitchFamily="34" charset="-122"/>
                          <a:cs typeface="Arial" pitchFamily="34" charset="-120"/>
                        </a:rPr>
                        <a:t>fp-28</a:t>
                      </a:r>
                      <a:endParaRPr lang="en-US" sz="1400" dirty="0">
                        <a:latin typeface="Arial" charset="0"/>
                        <a:ea typeface="Arial" charset="0"/>
                        <a:cs typeface="Arial" charset="0"/>
                      </a:endParaRPr>
                    </a:p>
                  </a:txBody>
                  <a:tcPr marL="62230" marR="62230" marT="62230" marB="62230">
                    <a:lnL w="12700" cap="flat" cmpd="sng" algn="ctr">
                      <a:solidFill>
                        <a:srgbClr val="545964"/>
                      </a:solidFill>
                      <a:prstDash val="solid"/>
                      <a:round/>
                      <a:headEnd type="none" w="med" len="med"/>
                      <a:tailEnd type="none" w="med" len="med"/>
                    </a:lnL>
                    <a:lnR w="12700" cap="flat" cmpd="sng" algn="ctr">
                      <a:solidFill>
                        <a:srgbClr val="545964"/>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545964"/>
                      </a:solidFill>
                      <a:prstDash val="solid"/>
                      <a:round/>
                      <a:headEnd type="none" w="med" len="med"/>
                      <a:tailEnd type="none" w="med" len="med"/>
                    </a:lnB>
                    <a:solidFill>
                      <a:srgbClr val="252C3B"/>
                    </a:solidFill>
                  </a:tcPr>
                </a:tc>
                <a:extLst>
                  <a:ext uri="{0D108BD9-81ED-4DB2-BD59-A6C34878D82A}">
                    <a16:rowId xmlns:a16="http://schemas.microsoft.com/office/drawing/2014/main" val="10000"/>
                  </a:ext>
                </a:extLst>
              </a:tr>
              <a:tr h="355411">
                <a:tc>
                  <a:txBody>
                    <a:bodyPr/>
                    <a:lstStyle/>
                    <a:p>
                      <a:pPr marL="0" indent="0">
                        <a:lnSpc>
                          <a:spcPts val="1960"/>
                        </a:lnSpc>
                        <a:buNone/>
                      </a:pPr>
                      <a:r>
                        <a:rPr lang="en-US" sz="1400" dirty="0">
                          <a:solidFill>
                            <a:srgbClr val="F5F3EC"/>
                          </a:solidFill>
                          <a:latin typeface="Arial" pitchFamily="34" charset="0"/>
                          <a:ea typeface="Arial" pitchFamily="34" charset="-122"/>
                          <a:cs typeface="Arial" pitchFamily="34" charset="-120"/>
                        </a:rPr>
                        <a:t>Variable in add.s</a:t>
                      </a:r>
                      <a:endParaRPr lang="en-US" sz="1400" dirty="0">
                        <a:latin typeface="Arial" charset="0"/>
                        <a:ea typeface="Arial" charset="0"/>
                        <a:cs typeface="Arial" charset="0"/>
                      </a:endParaRPr>
                    </a:p>
                  </a:txBody>
                  <a:tcPr marL="62230" marR="62230" marT="62230" marB="62230">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545964"/>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tc>
                  <a:txBody>
                    <a:bodyPr/>
                    <a:lstStyle/>
                    <a:p>
                      <a:pPr marL="0" indent="0">
                        <a:lnSpc>
                          <a:spcPts val="1960"/>
                        </a:lnSpc>
                        <a:buNone/>
                      </a:pPr>
                      <a:r>
                        <a:rPr lang="en-US" sz="1400" dirty="0">
                          <a:solidFill>
                            <a:srgbClr val="F5F3EC"/>
                          </a:solidFill>
                          <a:latin typeface="Arial" pitchFamily="34" charset="0"/>
                          <a:ea typeface="Arial" pitchFamily="34" charset="-122"/>
                          <a:cs typeface="Arial" pitchFamily="34" charset="-120"/>
                        </a:rPr>
                        <a:t>a = 4</a:t>
                      </a:r>
                      <a:endParaRPr lang="en-US" sz="1400" dirty="0">
                        <a:latin typeface="Arial" charset="0"/>
                        <a:ea typeface="Arial" charset="0"/>
                        <a:cs typeface="Arial" charset="0"/>
                      </a:endParaRPr>
                    </a:p>
                  </a:txBody>
                  <a:tcPr marL="62230" marR="62230" marT="62230" marB="62230">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545964"/>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tc>
                  <a:txBody>
                    <a:bodyPr/>
                    <a:lstStyle/>
                    <a:p>
                      <a:pPr marL="0" indent="0">
                        <a:lnSpc>
                          <a:spcPts val="1960"/>
                        </a:lnSpc>
                        <a:buNone/>
                      </a:pPr>
                      <a:r>
                        <a:rPr lang="en-US" sz="1400" dirty="0">
                          <a:solidFill>
                            <a:srgbClr val="F5F3EC"/>
                          </a:solidFill>
                          <a:latin typeface="Arial" pitchFamily="34" charset="0"/>
                          <a:ea typeface="Arial" pitchFamily="34" charset="-122"/>
                          <a:cs typeface="Arial" pitchFamily="34" charset="-120"/>
                        </a:rPr>
                        <a:t>b = 6</a:t>
                      </a:r>
                      <a:endParaRPr lang="en-US" sz="1400" dirty="0">
                        <a:latin typeface="Arial" charset="0"/>
                        <a:ea typeface="Arial" charset="0"/>
                        <a:cs typeface="Arial" charset="0"/>
                      </a:endParaRPr>
                    </a:p>
                  </a:txBody>
                  <a:tcPr marL="62230" marR="62230" marT="62230" marB="62230">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545964"/>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tc>
                  <a:txBody>
                    <a:bodyPr/>
                    <a:lstStyle/>
                    <a:p>
                      <a:pPr marL="0" indent="0">
                        <a:lnSpc>
                          <a:spcPts val="1960"/>
                        </a:lnSpc>
                        <a:buNone/>
                      </a:pPr>
                      <a:r>
                        <a:rPr lang="en-US" sz="1400" dirty="0">
                          <a:solidFill>
                            <a:srgbClr val="F5F3EC"/>
                          </a:solidFill>
                          <a:latin typeface="Arial" pitchFamily="34" charset="0"/>
                          <a:ea typeface="Arial" pitchFamily="34" charset="-122"/>
                          <a:cs typeface="Arial" pitchFamily="34" charset="-120"/>
                        </a:rPr>
                        <a:t>c = 10</a:t>
                      </a:r>
                      <a:endParaRPr lang="en-US" sz="1400" dirty="0">
                        <a:latin typeface="Arial" charset="0"/>
                        <a:ea typeface="Arial" charset="0"/>
                        <a:cs typeface="Arial" charset="0"/>
                      </a:endParaRPr>
                    </a:p>
                  </a:txBody>
                  <a:tcPr marL="62230" marR="62230" marT="62230" marB="62230">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545964"/>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tc>
                  <a:txBody>
                    <a:bodyPr/>
                    <a:lstStyle/>
                    <a:p>
                      <a:pPr marL="0" indent="0">
                        <a:lnSpc>
                          <a:spcPts val="1960"/>
                        </a:lnSpc>
                        <a:buNone/>
                      </a:pPr>
                      <a:r>
                        <a:rPr lang="en-US" sz="1400" dirty="0">
                          <a:solidFill>
                            <a:srgbClr val="F5F3EC"/>
                          </a:solidFill>
                          <a:latin typeface="Arial" pitchFamily="34" charset="0"/>
                          <a:ea typeface="Arial" pitchFamily="34" charset="-122"/>
                          <a:cs typeface="Arial" pitchFamily="34" charset="-120"/>
                        </a:rPr>
                        <a:t>d = 50</a:t>
                      </a:r>
                      <a:endParaRPr lang="en-US" sz="1400" dirty="0">
                        <a:latin typeface="Arial" charset="0"/>
                        <a:ea typeface="Arial" charset="0"/>
                        <a:cs typeface="Arial" charset="0"/>
                      </a:endParaRPr>
                    </a:p>
                  </a:txBody>
                  <a:tcPr marL="62230" marR="62230" marT="62230" marB="62230">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545964"/>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graphicFrame>
        <p:nvGraphicFramePr>
          <p:cNvPr id="15" name="Table 14">
            <a:extLst>
              <a:ext uri="{FF2B5EF4-FFF2-40B4-BE49-F238E27FC236}">
                <a16:creationId xmlns:a16="http://schemas.microsoft.com/office/drawing/2014/main" id="{9DE36DB4-A61E-91A6-6215-B5200E62DBBB}"/>
              </a:ext>
            </a:extLst>
          </p:cNvPr>
          <p:cNvGraphicFramePr>
            <a:graphicFrameLocks noGrp="1"/>
          </p:cNvGraphicFramePr>
          <p:nvPr>
            <p:extLst>
              <p:ext uri="{D42A27DB-BD31-4B8C-83A1-F6EECF244321}">
                <p14:modId xmlns:p14="http://schemas.microsoft.com/office/powerpoint/2010/main" val="2056076227"/>
              </p:ext>
            </p:extLst>
          </p:nvPr>
        </p:nvGraphicFramePr>
        <p:xfrm>
          <a:off x="352926" y="588750"/>
          <a:ext cx="11710738" cy="5607771"/>
        </p:xfrm>
        <a:graphic>
          <a:graphicData uri="http://schemas.openxmlformats.org/drawingml/2006/table">
            <a:tbl>
              <a:tblPr firstRow="1" bandRow="1">
                <a:tableStyleId>{073A0DAA-6AF3-43AB-8588-CEC1D06C72B9}</a:tableStyleId>
              </a:tblPr>
              <a:tblGrid>
                <a:gridCol w="5855369">
                  <a:extLst>
                    <a:ext uri="{9D8B030D-6E8A-4147-A177-3AD203B41FA5}">
                      <a16:colId xmlns:a16="http://schemas.microsoft.com/office/drawing/2014/main" val="2389503691"/>
                    </a:ext>
                  </a:extLst>
                </a:gridCol>
                <a:gridCol w="5855369">
                  <a:extLst>
                    <a:ext uri="{9D8B030D-6E8A-4147-A177-3AD203B41FA5}">
                      <a16:colId xmlns:a16="http://schemas.microsoft.com/office/drawing/2014/main" val="3927042533"/>
                    </a:ext>
                  </a:extLst>
                </a:gridCol>
              </a:tblGrid>
              <a:tr h="398652">
                <a:tc>
                  <a:txBody>
                    <a:bodyPr/>
                    <a:lstStyle/>
                    <a:p>
                      <a:r>
                        <a:rPr lang="en-IN" sz="1800" b="1" i="0" kern="1200" dirty="0">
                          <a:solidFill>
                            <a:schemeClr val="lt1"/>
                          </a:solidFill>
                          <a:effectLst/>
                          <a:latin typeface="+mn-lt"/>
                          <a:ea typeface="+mn-ea"/>
                          <a:cs typeface="+mn-cs"/>
                        </a:rPr>
                        <a:t>Instruction</a:t>
                      </a:r>
                      <a:endParaRPr lang="en-IN" dirty="0"/>
                    </a:p>
                  </a:txBody>
                  <a:tcPr/>
                </a:tc>
                <a:tc>
                  <a:txBody>
                    <a:bodyPr/>
                    <a:lstStyle/>
                    <a:p>
                      <a:r>
                        <a:rPr lang="en-IN" sz="1800" b="1" i="0" kern="1200" dirty="0">
                          <a:solidFill>
                            <a:schemeClr val="lt1"/>
                          </a:solidFill>
                          <a:effectLst/>
                          <a:latin typeface="+mn-lt"/>
                          <a:ea typeface="+mn-ea"/>
                          <a:cs typeface="+mn-cs"/>
                        </a:rPr>
                        <a:t>Explanation</a:t>
                      </a:r>
                      <a:endParaRPr lang="en-IN" dirty="0"/>
                    </a:p>
                  </a:txBody>
                  <a:tcPr/>
                </a:tc>
                <a:extLst>
                  <a:ext uri="{0D108BD9-81ED-4DB2-BD59-A6C34878D82A}">
                    <a16:rowId xmlns:a16="http://schemas.microsoft.com/office/drawing/2014/main" val="2803419909"/>
                  </a:ext>
                </a:extLst>
              </a:tr>
              <a:tr h="398652">
                <a:tc>
                  <a:txBody>
                    <a:bodyPr/>
                    <a:lstStyle/>
                    <a:p>
                      <a:r>
                        <a:rPr lang="en-IN" sz="1800" b="0" i="0" kern="1200" dirty="0">
                          <a:solidFill>
                            <a:schemeClr val="dk1"/>
                          </a:solidFill>
                          <a:effectLst/>
                          <a:latin typeface="+mn-lt"/>
                          <a:ea typeface="+mn-ea"/>
                          <a:cs typeface="+mn-cs"/>
                        </a:rPr>
                        <a:t>mov </a:t>
                      </a:r>
                      <a:r>
                        <a:rPr lang="en-IN" sz="1800" b="0" i="0" kern="1200" dirty="0" err="1">
                          <a:solidFill>
                            <a:schemeClr val="dk1"/>
                          </a:solidFill>
                          <a:effectLst/>
                          <a:latin typeface="+mn-lt"/>
                          <a:ea typeface="+mn-ea"/>
                          <a:cs typeface="+mn-cs"/>
                        </a:rPr>
                        <a:t>ip</a:t>
                      </a:r>
                      <a:r>
                        <a:rPr lang="en-IN" sz="1800" b="0" i="0" kern="1200" dirty="0">
                          <a:solidFill>
                            <a:schemeClr val="dk1"/>
                          </a:solidFill>
                          <a:effectLst/>
                          <a:latin typeface="+mn-lt"/>
                          <a:ea typeface="+mn-ea"/>
                          <a:cs typeface="+mn-cs"/>
                        </a:rPr>
                        <a:t>, </a:t>
                      </a:r>
                      <a:r>
                        <a:rPr lang="en-IN" sz="1800" b="0" i="0" kern="1200" dirty="0" err="1">
                          <a:solidFill>
                            <a:schemeClr val="dk1"/>
                          </a:solidFill>
                          <a:effectLst/>
                          <a:latin typeface="+mn-lt"/>
                          <a:ea typeface="+mn-ea"/>
                          <a:cs typeface="+mn-cs"/>
                        </a:rPr>
                        <a:t>sp</a:t>
                      </a:r>
                      <a:endParaRPr lang="en-IN" dirty="0"/>
                    </a:p>
                  </a:txBody>
                  <a:tcPr/>
                </a:tc>
                <a:tc>
                  <a:txBody>
                    <a:bodyPr/>
                    <a:lstStyle/>
                    <a:p>
                      <a:r>
                        <a:rPr lang="en-US" dirty="0"/>
                        <a:t>Copies the current stack pointer into </a:t>
                      </a:r>
                      <a:r>
                        <a:rPr lang="en-US" sz="1800" kern="1200" dirty="0" err="1">
                          <a:solidFill>
                            <a:schemeClr val="dk1"/>
                          </a:solidFill>
                          <a:latin typeface="+mn-lt"/>
                          <a:ea typeface="+mn-ea"/>
                          <a:cs typeface="+mn-cs"/>
                        </a:rPr>
                        <a:t>ip</a:t>
                      </a:r>
                      <a:endParaRPr lang="en-IN" dirty="0"/>
                    </a:p>
                  </a:txBody>
                  <a:tcPr/>
                </a:tc>
                <a:extLst>
                  <a:ext uri="{0D108BD9-81ED-4DB2-BD59-A6C34878D82A}">
                    <a16:rowId xmlns:a16="http://schemas.microsoft.com/office/drawing/2014/main" val="3080095896"/>
                  </a:ext>
                </a:extLst>
              </a:tr>
              <a:tr h="398652">
                <a:tc>
                  <a:txBody>
                    <a:bodyPr/>
                    <a:lstStyle/>
                    <a:p>
                      <a:r>
                        <a:rPr lang="en-IN" dirty="0" err="1"/>
                        <a:t>stmfd</a:t>
                      </a:r>
                      <a:r>
                        <a:rPr lang="en-IN" dirty="0"/>
                        <a:t> </a:t>
                      </a:r>
                      <a:r>
                        <a:rPr lang="en-IN" dirty="0" err="1"/>
                        <a:t>sp</a:t>
                      </a:r>
                      <a:r>
                        <a:rPr lang="en-IN" dirty="0"/>
                        <a:t>!, {</a:t>
                      </a:r>
                      <a:r>
                        <a:rPr lang="en-IN" dirty="0" err="1"/>
                        <a:t>fp</a:t>
                      </a:r>
                      <a:r>
                        <a:rPr lang="en-IN" dirty="0"/>
                        <a:t>, </a:t>
                      </a:r>
                      <a:r>
                        <a:rPr lang="en-IN" dirty="0" err="1"/>
                        <a:t>ip</a:t>
                      </a:r>
                      <a:r>
                        <a:rPr lang="en-IN" dirty="0"/>
                        <a:t>, </a:t>
                      </a:r>
                      <a:r>
                        <a:rPr lang="en-IN" dirty="0" err="1"/>
                        <a:t>lr</a:t>
                      </a:r>
                      <a:r>
                        <a:rPr lang="en-IN" dirty="0"/>
                        <a:t>, pc}</a:t>
                      </a:r>
                    </a:p>
                  </a:txBody>
                  <a:tcPr/>
                </a:tc>
                <a:tc>
                  <a:txBody>
                    <a:bodyPr/>
                    <a:lstStyle/>
                    <a:p>
                      <a:r>
                        <a:rPr lang="en-US" dirty="0"/>
                        <a:t>Saves the specified registers on the stack.</a:t>
                      </a:r>
                      <a:endParaRPr lang="en-IN" dirty="0"/>
                    </a:p>
                  </a:txBody>
                  <a:tcPr/>
                </a:tc>
                <a:extLst>
                  <a:ext uri="{0D108BD9-81ED-4DB2-BD59-A6C34878D82A}">
                    <a16:rowId xmlns:a16="http://schemas.microsoft.com/office/drawing/2014/main" val="1396519863"/>
                  </a:ext>
                </a:extLst>
              </a:tr>
              <a:tr h="398652">
                <a:tc>
                  <a:txBody>
                    <a:bodyPr/>
                    <a:lstStyle/>
                    <a:p>
                      <a:r>
                        <a:rPr lang="en-IN" sz="1800" b="0" i="0" kern="1200" dirty="0">
                          <a:solidFill>
                            <a:schemeClr val="dk1"/>
                          </a:solidFill>
                          <a:effectLst/>
                          <a:latin typeface="+mn-lt"/>
                          <a:ea typeface="+mn-ea"/>
                          <a:cs typeface="+mn-cs"/>
                        </a:rPr>
                        <a:t>sub </a:t>
                      </a:r>
                      <a:r>
                        <a:rPr lang="en-IN" sz="1800" b="0" i="0" kern="1200" dirty="0" err="1">
                          <a:solidFill>
                            <a:schemeClr val="dk1"/>
                          </a:solidFill>
                          <a:effectLst/>
                          <a:latin typeface="+mn-lt"/>
                          <a:ea typeface="+mn-ea"/>
                          <a:cs typeface="+mn-cs"/>
                        </a:rPr>
                        <a:t>fp</a:t>
                      </a:r>
                      <a:r>
                        <a:rPr lang="en-IN" sz="1800" b="0" i="0" kern="1200" dirty="0">
                          <a:solidFill>
                            <a:schemeClr val="dk1"/>
                          </a:solidFill>
                          <a:effectLst/>
                          <a:latin typeface="+mn-lt"/>
                          <a:ea typeface="+mn-ea"/>
                          <a:cs typeface="+mn-cs"/>
                        </a:rPr>
                        <a:t>, </a:t>
                      </a:r>
                      <a:r>
                        <a:rPr lang="en-IN" sz="1800" b="0" i="0" kern="1200" dirty="0" err="1">
                          <a:solidFill>
                            <a:schemeClr val="dk1"/>
                          </a:solidFill>
                          <a:effectLst/>
                          <a:latin typeface="+mn-lt"/>
                          <a:ea typeface="+mn-ea"/>
                          <a:cs typeface="+mn-cs"/>
                        </a:rPr>
                        <a:t>ip</a:t>
                      </a:r>
                      <a:r>
                        <a:rPr lang="en-IN" sz="1800" b="0" i="0" kern="1200" dirty="0">
                          <a:solidFill>
                            <a:schemeClr val="dk1"/>
                          </a:solidFill>
                          <a:effectLst/>
                          <a:latin typeface="+mn-lt"/>
                          <a:ea typeface="+mn-ea"/>
                          <a:cs typeface="+mn-cs"/>
                        </a:rPr>
                        <a:t>, #4</a:t>
                      </a:r>
                      <a:endParaRPr lang="en-IN" dirty="0"/>
                    </a:p>
                  </a:txBody>
                  <a:tcPr/>
                </a:tc>
                <a:tc>
                  <a:txBody>
                    <a:bodyPr/>
                    <a:lstStyle/>
                    <a:p>
                      <a:r>
                        <a:rPr lang="en-US" dirty="0"/>
                        <a:t>Sets the frame pointer 4 bytes before the address in </a:t>
                      </a:r>
                      <a:r>
                        <a:rPr lang="en-US" sz="1800" kern="1200" dirty="0" err="1">
                          <a:solidFill>
                            <a:schemeClr val="dk1"/>
                          </a:solidFill>
                          <a:latin typeface="+mn-lt"/>
                          <a:ea typeface="+mn-ea"/>
                          <a:cs typeface="+mn-cs"/>
                        </a:rPr>
                        <a:t>ip</a:t>
                      </a:r>
                      <a:r>
                        <a:rPr lang="en-US" dirty="0"/>
                        <a:t>.</a:t>
                      </a:r>
                      <a:endParaRPr lang="en-IN" dirty="0"/>
                    </a:p>
                  </a:txBody>
                  <a:tcPr/>
                </a:tc>
                <a:extLst>
                  <a:ext uri="{0D108BD9-81ED-4DB2-BD59-A6C34878D82A}">
                    <a16:rowId xmlns:a16="http://schemas.microsoft.com/office/drawing/2014/main" val="2623979581"/>
                  </a:ext>
                </a:extLst>
              </a:tr>
              <a:tr h="398652">
                <a:tc>
                  <a:txBody>
                    <a:bodyPr/>
                    <a:lstStyle/>
                    <a:p>
                      <a:r>
                        <a:rPr lang="en-IN" sz="1800" b="0" i="0" kern="1200" dirty="0">
                          <a:solidFill>
                            <a:schemeClr val="dk1"/>
                          </a:solidFill>
                          <a:effectLst/>
                          <a:latin typeface="+mn-lt"/>
                          <a:ea typeface="+mn-ea"/>
                          <a:cs typeface="+mn-cs"/>
                        </a:rPr>
                        <a:t>sub </a:t>
                      </a:r>
                      <a:r>
                        <a:rPr lang="en-IN" sz="1800" b="0" i="0" kern="1200" dirty="0" err="1">
                          <a:solidFill>
                            <a:schemeClr val="dk1"/>
                          </a:solidFill>
                          <a:effectLst/>
                          <a:latin typeface="+mn-lt"/>
                          <a:ea typeface="+mn-ea"/>
                          <a:cs typeface="+mn-cs"/>
                        </a:rPr>
                        <a:t>sp</a:t>
                      </a:r>
                      <a:r>
                        <a:rPr lang="en-IN" sz="1800" b="0" i="0" kern="1200" dirty="0">
                          <a:solidFill>
                            <a:schemeClr val="dk1"/>
                          </a:solidFill>
                          <a:effectLst/>
                          <a:latin typeface="+mn-lt"/>
                          <a:ea typeface="+mn-ea"/>
                          <a:cs typeface="+mn-cs"/>
                        </a:rPr>
                        <a:t>, </a:t>
                      </a:r>
                      <a:r>
                        <a:rPr lang="en-IN" sz="1800" b="0" i="0" kern="1200" dirty="0" err="1">
                          <a:solidFill>
                            <a:schemeClr val="dk1"/>
                          </a:solidFill>
                          <a:effectLst/>
                          <a:latin typeface="+mn-lt"/>
                          <a:ea typeface="+mn-ea"/>
                          <a:cs typeface="+mn-cs"/>
                        </a:rPr>
                        <a:t>sp</a:t>
                      </a:r>
                      <a:r>
                        <a:rPr lang="en-IN" sz="1800" b="0" i="0" kern="1200" dirty="0">
                          <a:solidFill>
                            <a:schemeClr val="dk1"/>
                          </a:solidFill>
                          <a:effectLst/>
                          <a:latin typeface="+mn-lt"/>
                          <a:ea typeface="+mn-ea"/>
                          <a:cs typeface="+mn-cs"/>
                        </a:rPr>
                        <a:t>, #16</a:t>
                      </a:r>
                      <a:endParaRPr lang="en-IN" dirty="0"/>
                    </a:p>
                  </a:txBody>
                  <a:tcPr/>
                </a:tc>
                <a:tc>
                  <a:txBody>
                    <a:bodyPr/>
                    <a:lstStyle/>
                    <a:p>
                      <a:r>
                        <a:rPr lang="en-US" dirty="0"/>
                        <a:t>Creates 16 bytes of space on the stack for local variables.</a:t>
                      </a:r>
                      <a:endParaRPr lang="en-IN" dirty="0"/>
                    </a:p>
                  </a:txBody>
                  <a:tcPr/>
                </a:tc>
                <a:extLst>
                  <a:ext uri="{0D108BD9-81ED-4DB2-BD59-A6C34878D82A}">
                    <a16:rowId xmlns:a16="http://schemas.microsoft.com/office/drawing/2014/main" val="522231147"/>
                  </a:ext>
                </a:extLst>
              </a:tr>
              <a:tr h="697641">
                <a:tc>
                  <a:txBody>
                    <a:bodyPr/>
                    <a:lstStyle/>
                    <a:p>
                      <a:r>
                        <a:rPr lang="pt-BR" sz="1800" b="0" i="0" kern="1200" dirty="0">
                          <a:solidFill>
                            <a:schemeClr val="dk1"/>
                          </a:solidFill>
                          <a:effectLst/>
                          <a:latin typeface="+mn-lt"/>
                          <a:ea typeface="+mn-ea"/>
                          <a:cs typeface="+mn-cs"/>
                        </a:rPr>
                        <a:t>mov r3, #4 · </a:t>
                      </a:r>
                    </a:p>
                    <a:p>
                      <a:r>
                        <a:rPr lang="pt-BR" sz="1800" b="0" i="0" kern="1200" dirty="0">
                          <a:solidFill>
                            <a:schemeClr val="dk1"/>
                          </a:solidFill>
                          <a:effectLst/>
                          <a:latin typeface="+mn-lt"/>
                          <a:ea typeface="+mn-ea"/>
                          <a:cs typeface="+mn-cs"/>
                        </a:rPr>
                        <a:t>str r3, [fp, #-16]</a:t>
                      </a:r>
                      <a:endParaRPr lang="en-IN" dirty="0"/>
                    </a:p>
                  </a:txBody>
                  <a:tcPr/>
                </a:tc>
                <a:tc>
                  <a:txBody>
                    <a:bodyPr/>
                    <a:lstStyle/>
                    <a:p>
                      <a:r>
                        <a:rPr lang="en-US" dirty="0"/>
                        <a:t>Loads the value </a:t>
                      </a:r>
                      <a:r>
                        <a:rPr lang="en-US" sz="1800" kern="1200" dirty="0">
                          <a:solidFill>
                            <a:schemeClr val="dk1"/>
                          </a:solidFill>
                          <a:latin typeface="+mn-lt"/>
                          <a:ea typeface="+mn-ea"/>
                          <a:cs typeface="+mn-cs"/>
                        </a:rPr>
                        <a:t>4</a:t>
                      </a:r>
                      <a:r>
                        <a:rPr lang="en-US" dirty="0"/>
                        <a:t> into register </a:t>
                      </a:r>
                      <a:r>
                        <a:rPr lang="en-US" sz="1800" kern="1200" dirty="0">
                          <a:solidFill>
                            <a:schemeClr val="dk1"/>
                          </a:solidFill>
                          <a:latin typeface="+mn-lt"/>
                          <a:ea typeface="+mn-ea"/>
                          <a:cs typeface="+mn-cs"/>
                        </a:rPr>
                        <a:t>r3</a:t>
                      </a:r>
                      <a:r>
                        <a:rPr lang="en-US" dirty="0"/>
                        <a:t>.</a:t>
                      </a:r>
                    </a:p>
                    <a:p>
                      <a:r>
                        <a:rPr lang="en-US" dirty="0"/>
                        <a:t>Stores the value </a:t>
                      </a:r>
                      <a:r>
                        <a:rPr lang="en-US" sz="1800" kern="1200" dirty="0">
                          <a:solidFill>
                            <a:schemeClr val="dk1"/>
                          </a:solidFill>
                          <a:latin typeface="+mn-lt"/>
                          <a:ea typeface="+mn-ea"/>
                          <a:cs typeface="+mn-cs"/>
                        </a:rPr>
                        <a:t>4</a:t>
                      </a:r>
                      <a:r>
                        <a:rPr lang="en-US" dirty="0"/>
                        <a:t> in memory at </a:t>
                      </a:r>
                      <a:r>
                        <a:rPr lang="en-US" sz="1800" kern="1200" dirty="0" err="1">
                          <a:solidFill>
                            <a:schemeClr val="dk1"/>
                          </a:solidFill>
                          <a:latin typeface="+mn-lt"/>
                          <a:ea typeface="+mn-ea"/>
                          <a:cs typeface="+mn-cs"/>
                        </a:rPr>
                        <a:t>fp</a:t>
                      </a:r>
                      <a:r>
                        <a:rPr lang="en-US" sz="1800" kern="1200" dirty="0">
                          <a:solidFill>
                            <a:schemeClr val="dk1"/>
                          </a:solidFill>
                          <a:latin typeface="+mn-lt"/>
                          <a:ea typeface="+mn-ea"/>
                          <a:cs typeface="+mn-cs"/>
                        </a:rPr>
                        <a:t> - 16</a:t>
                      </a:r>
                      <a:r>
                        <a:rPr lang="en-US" dirty="0"/>
                        <a:t>.</a:t>
                      </a:r>
                      <a:endParaRPr lang="en-IN" dirty="0"/>
                    </a:p>
                  </a:txBody>
                  <a:tcPr/>
                </a:tc>
                <a:extLst>
                  <a:ext uri="{0D108BD9-81ED-4DB2-BD59-A6C34878D82A}">
                    <a16:rowId xmlns:a16="http://schemas.microsoft.com/office/drawing/2014/main" val="3811578018"/>
                  </a:ext>
                </a:extLst>
              </a:tr>
              <a:tr h="697641">
                <a:tc>
                  <a:txBody>
                    <a:bodyPr/>
                    <a:lstStyle/>
                    <a:p>
                      <a:r>
                        <a:rPr lang="pt-BR" sz="1800" b="0" i="0" kern="1200" dirty="0">
                          <a:solidFill>
                            <a:schemeClr val="dk1"/>
                          </a:solidFill>
                          <a:effectLst/>
                          <a:latin typeface="+mn-lt"/>
                          <a:ea typeface="+mn-ea"/>
                          <a:cs typeface="+mn-cs"/>
                        </a:rPr>
                        <a:t>mov r3, #6 ·</a:t>
                      </a:r>
                    </a:p>
                    <a:p>
                      <a:r>
                        <a:rPr lang="pt-BR" sz="1800" b="0" i="0" kern="1200" dirty="0">
                          <a:solidFill>
                            <a:schemeClr val="dk1"/>
                          </a:solidFill>
                          <a:effectLst/>
                          <a:latin typeface="+mn-lt"/>
                          <a:ea typeface="+mn-ea"/>
                          <a:cs typeface="+mn-cs"/>
                        </a:rPr>
                        <a:t> str r3, [fp, #-20]</a:t>
                      </a:r>
                      <a:endParaRPr lang="en-IN" dirty="0"/>
                    </a:p>
                  </a:txBody>
                  <a:tcPr/>
                </a:tc>
                <a:tc>
                  <a:txBody>
                    <a:bodyPr/>
                    <a:lstStyle/>
                    <a:p>
                      <a:r>
                        <a:rPr lang="en-US" dirty="0"/>
                        <a:t>Loads the value </a:t>
                      </a:r>
                      <a:r>
                        <a:rPr lang="en-US" sz="1800" kern="1200" dirty="0">
                          <a:solidFill>
                            <a:schemeClr val="dk1"/>
                          </a:solidFill>
                          <a:latin typeface="+mn-lt"/>
                          <a:ea typeface="+mn-ea"/>
                          <a:cs typeface="+mn-cs"/>
                        </a:rPr>
                        <a:t>6</a:t>
                      </a:r>
                      <a:r>
                        <a:rPr lang="en-US" dirty="0"/>
                        <a:t> into register </a:t>
                      </a:r>
                      <a:r>
                        <a:rPr lang="en-US" sz="1800" kern="1200" dirty="0">
                          <a:solidFill>
                            <a:schemeClr val="dk1"/>
                          </a:solidFill>
                          <a:latin typeface="+mn-lt"/>
                          <a:ea typeface="+mn-ea"/>
                          <a:cs typeface="+mn-cs"/>
                        </a:rPr>
                        <a:t>r3</a:t>
                      </a:r>
                    </a:p>
                    <a:p>
                      <a:r>
                        <a:rPr lang="en-US" dirty="0"/>
                        <a:t>Stores the value </a:t>
                      </a:r>
                      <a:r>
                        <a:rPr lang="en-US" sz="1800" kern="1200" dirty="0">
                          <a:solidFill>
                            <a:schemeClr val="dk1"/>
                          </a:solidFill>
                          <a:latin typeface="+mn-lt"/>
                          <a:ea typeface="+mn-ea"/>
                          <a:cs typeface="+mn-cs"/>
                        </a:rPr>
                        <a:t>6</a:t>
                      </a:r>
                      <a:r>
                        <a:rPr lang="en-US" dirty="0"/>
                        <a:t> in memory at </a:t>
                      </a:r>
                      <a:r>
                        <a:rPr lang="en-US" sz="1800" kern="1200" dirty="0" err="1">
                          <a:solidFill>
                            <a:schemeClr val="dk1"/>
                          </a:solidFill>
                          <a:latin typeface="+mn-lt"/>
                          <a:ea typeface="+mn-ea"/>
                          <a:cs typeface="+mn-cs"/>
                        </a:rPr>
                        <a:t>fp</a:t>
                      </a:r>
                      <a:r>
                        <a:rPr lang="en-US" sz="1800" kern="1200" dirty="0">
                          <a:solidFill>
                            <a:schemeClr val="dk1"/>
                          </a:solidFill>
                          <a:latin typeface="+mn-lt"/>
                          <a:ea typeface="+mn-ea"/>
                          <a:cs typeface="+mn-cs"/>
                        </a:rPr>
                        <a:t> - 20</a:t>
                      </a:r>
                      <a:endParaRPr lang="en-IN" dirty="0"/>
                    </a:p>
                  </a:txBody>
                  <a:tcPr/>
                </a:tc>
                <a:extLst>
                  <a:ext uri="{0D108BD9-81ED-4DB2-BD59-A6C34878D82A}">
                    <a16:rowId xmlns:a16="http://schemas.microsoft.com/office/drawing/2014/main" val="1649712370"/>
                  </a:ext>
                </a:extLst>
              </a:tr>
              <a:tr h="697641">
                <a:tc>
                  <a:txBody>
                    <a:bodyPr/>
                    <a:lstStyle/>
                    <a:p>
                      <a:r>
                        <a:rPr lang="pt-BR" sz="1800" b="0" i="0" kern="1200" dirty="0">
                          <a:solidFill>
                            <a:schemeClr val="dk1"/>
                          </a:solidFill>
                          <a:effectLst/>
                          <a:latin typeface="+mn-lt"/>
                          <a:ea typeface="+mn-ea"/>
                          <a:cs typeface="+mn-cs"/>
                        </a:rPr>
                        <a:t>ldr r2, [fp, #-16] · </a:t>
                      </a:r>
                    </a:p>
                    <a:p>
                      <a:r>
                        <a:rPr lang="pt-BR" sz="1800" b="0" i="0" kern="1200" dirty="0">
                          <a:solidFill>
                            <a:schemeClr val="dk1"/>
                          </a:solidFill>
                          <a:effectLst/>
                          <a:latin typeface="+mn-lt"/>
                          <a:ea typeface="+mn-ea"/>
                          <a:cs typeface="+mn-cs"/>
                        </a:rPr>
                        <a:t>ldr r3, [fp, #-20]</a:t>
                      </a:r>
                      <a:endParaRPr lang="en-IN" dirty="0"/>
                    </a:p>
                  </a:txBody>
                  <a:tcPr/>
                </a:tc>
                <a:tc>
                  <a:txBody>
                    <a:bodyPr/>
                    <a:lstStyle/>
                    <a:p>
                      <a:r>
                        <a:rPr lang="en-US" dirty="0"/>
                        <a:t>Loads the value </a:t>
                      </a:r>
                      <a:r>
                        <a:rPr lang="en-US" sz="1800" kern="1200" dirty="0">
                          <a:solidFill>
                            <a:schemeClr val="dk1"/>
                          </a:solidFill>
                          <a:latin typeface="+mn-lt"/>
                          <a:ea typeface="+mn-ea"/>
                          <a:cs typeface="+mn-cs"/>
                        </a:rPr>
                        <a:t>4</a:t>
                      </a:r>
                      <a:r>
                        <a:rPr lang="en-US" dirty="0"/>
                        <a:t> from memory into register </a:t>
                      </a:r>
                      <a:r>
                        <a:rPr lang="en-US" sz="1800" kern="1200" dirty="0">
                          <a:solidFill>
                            <a:schemeClr val="dk1"/>
                          </a:solidFill>
                          <a:latin typeface="+mn-lt"/>
                          <a:ea typeface="+mn-ea"/>
                          <a:cs typeface="+mn-cs"/>
                        </a:rPr>
                        <a:t>r2</a:t>
                      </a:r>
                    </a:p>
                    <a:p>
                      <a:r>
                        <a:rPr lang="en-US" dirty="0"/>
                        <a:t>Loads the value </a:t>
                      </a:r>
                      <a:r>
                        <a:rPr lang="en-US" sz="1800" kern="1200" dirty="0">
                          <a:solidFill>
                            <a:schemeClr val="dk1"/>
                          </a:solidFill>
                          <a:latin typeface="+mn-lt"/>
                          <a:ea typeface="+mn-ea"/>
                          <a:cs typeface="+mn-cs"/>
                        </a:rPr>
                        <a:t>6</a:t>
                      </a:r>
                      <a:r>
                        <a:rPr lang="en-US" dirty="0"/>
                        <a:t> from memory into register </a:t>
                      </a:r>
                      <a:r>
                        <a:rPr lang="en-US" sz="1800" kern="1200" dirty="0">
                          <a:solidFill>
                            <a:schemeClr val="dk1"/>
                          </a:solidFill>
                          <a:latin typeface="+mn-lt"/>
                          <a:ea typeface="+mn-ea"/>
                          <a:cs typeface="+mn-cs"/>
                        </a:rPr>
                        <a:t>r3</a:t>
                      </a:r>
                      <a:r>
                        <a:rPr lang="en-US" dirty="0"/>
                        <a:t>.</a:t>
                      </a:r>
                      <a:endParaRPr lang="en-IN" dirty="0"/>
                    </a:p>
                  </a:txBody>
                  <a:tcPr/>
                </a:tc>
                <a:extLst>
                  <a:ext uri="{0D108BD9-81ED-4DB2-BD59-A6C34878D82A}">
                    <a16:rowId xmlns:a16="http://schemas.microsoft.com/office/drawing/2014/main" val="732709044"/>
                  </a:ext>
                </a:extLst>
              </a:tr>
              <a:tr h="398652">
                <a:tc>
                  <a:txBody>
                    <a:bodyPr/>
                    <a:lstStyle/>
                    <a:p>
                      <a:r>
                        <a:rPr lang="en-IN" sz="1800" b="0" i="0" kern="1200" dirty="0">
                          <a:solidFill>
                            <a:schemeClr val="dk1"/>
                          </a:solidFill>
                          <a:effectLst/>
                          <a:latin typeface="+mn-lt"/>
                          <a:ea typeface="+mn-ea"/>
                          <a:cs typeface="+mn-cs"/>
                        </a:rPr>
                        <a:t>add r3, r2, r3</a:t>
                      </a:r>
                      <a:endParaRPr lang="en-IN" dirty="0"/>
                    </a:p>
                  </a:txBody>
                  <a:tcPr/>
                </a:tc>
                <a:tc>
                  <a:txBody>
                    <a:bodyPr/>
                    <a:lstStyle/>
                    <a:p>
                      <a:r>
                        <a:rPr lang="en-US" dirty="0"/>
                        <a:t>Adds the values in </a:t>
                      </a:r>
                      <a:r>
                        <a:rPr lang="en-US" sz="1800" kern="1200" dirty="0">
                          <a:solidFill>
                            <a:schemeClr val="dk1"/>
                          </a:solidFill>
                          <a:latin typeface="+mn-lt"/>
                          <a:ea typeface="+mn-ea"/>
                          <a:cs typeface="+mn-cs"/>
                        </a:rPr>
                        <a:t>r2</a:t>
                      </a:r>
                      <a:r>
                        <a:rPr lang="en-US" dirty="0"/>
                        <a:t> and </a:t>
                      </a:r>
                      <a:r>
                        <a:rPr lang="en-US" sz="1800" kern="1200" dirty="0">
                          <a:solidFill>
                            <a:schemeClr val="dk1"/>
                          </a:solidFill>
                          <a:latin typeface="+mn-lt"/>
                          <a:ea typeface="+mn-ea"/>
                          <a:cs typeface="+mn-cs"/>
                        </a:rPr>
                        <a:t>r3</a:t>
                      </a:r>
                      <a:r>
                        <a:rPr lang="en-US" dirty="0"/>
                        <a:t> and stores the result (</a:t>
                      </a:r>
                      <a:r>
                        <a:rPr lang="en-US" sz="1800" kern="1200" dirty="0">
                          <a:solidFill>
                            <a:schemeClr val="dk1"/>
                          </a:solidFill>
                          <a:latin typeface="+mn-lt"/>
                          <a:ea typeface="+mn-ea"/>
                          <a:cs typeface="+mn-cs"/>
                        </a:rPr>
                        <a:t>10</a:t>
                      </a:r>
                      <a:r>
                        <a:rPr lang="en-US" dirty="0"/>
                        <a:t>) in </a:t>
                      </a:r>
                      <a:r>
                        <a:rPr lang="en-US" sz="1800" kern="1200" dirty="0">
                          <a:solidFill>
                            <a:schemeClr val="dk1"/>
                          </a:solidFill>
                          <a:latin typeface="+mn-lt"/>
                          <a:ea typeface="+mn-ea"/>
                          <a:cs typeface="+mn-cs"/>
                        </a:rPr>
                        <a:t>r3</a:t>
                      </a:r>
                      <a:r>
                        <a:rPr lang="en-US" dirty="0"/>
                        <a:t>.</a:t>
                      </a:r>
                      <a:endParaRPr lang="en-IN" dirty="0"/>
                    </a:p>
                  </a:txBody>
                  <a:tcPr/>
                </a:tc>
                <a:extLst>
                  <a:ext uri="{0D108BD9-81ED-4DB2-BD59-A6C34878D82A}">
                    <a16:rowId xmlns:a16="http://schemas.microsoft.com/office/drawing/2014/main" val="2432901624"/>
                  </a:ext>
                </a:extLst>
              </a:tr>
              <a:tr h="398652">
                <a:tc>
                  <a:txBody>
                    <a:bodyPr/>
                    <a:lstStyle/>
                    <a:p>
                      <a:r>
                        <a:rPr lang="en-IN" sz="1800" b="0" i="0" kern="1200" dirty="0">
                          <a:solidFill>
                            <a:schemeClr val="dk1"/>
                          </a:solidFill>
                          <a:effectLst/>
                          <a:latin typeface="+mn-lt"/>
                          <a:ea typeface="+mn-ea"/>
                          <a:cs typeface="+mn-cs"/>
                        </a:rPr>
                        <a:t>str r3, [</a:t>
                      </a:r>
                      <a:r>
                        <a:rPr lang="en-IN" sz="1800" b="0" i="0" kern="1200" dirty="0" err="1">
                          <a:solidFill>
                            <a:schemeClr val="dk1"/>
                          </a:solidFill>
                          <a:effectLst/>
                          <a:latin typeface="+mn-lt"/>
                          <a:ea typeface="+mn-ea"/>
                          <a:cs typeface="+mn-cs"/>
                        </a:rPr>
                        <a:t>fp</a:t>
                      </a:r>
                      <a:r>
                        <a:rPr lang="en-IN" sz="1800" b="0" i="0" kern="1200" dirty="0">
                          <a:solidFill>
                            <a:schemeClr val="dk1"/>
                          </a:solidFill>
                          <a:effectLst/>
                          <a:latin typeface="+mn-lt"/>
                          <a:ea typeface="+mn-ea"/>
                          <a:cs typeface="+mn-cs"/>
                        </a:rPr>
                        <a:t>, #-24]</a:t>
                      </a:r>
                      <a:endParaRPr lang="en-IN" dirty="0"/>
                    </a:p>
                  </a:txBody>
                  <a:tcPr/>
                </a:tc>
                <a:tc>
                  <a:txBody>
                    <a:bodyPr/>
                    <a:lstStyle/>
                    <a:p>
                      <a:r>
                        <a:rPr lang="en-US" dirty="0"/>
                        <a:t>Stores the result (</a:t>
                      </a:r>
                      <a:r>
                        <a:rPr lang="en-US" sz="1800" kern="1200" dirty="0">
                          <a:solidFill>
                            <a:schemeClr val="dk1"/>
                          </a:solidFill>
                          <a:latin typeface="+mn-lt"/>
                          <a:ea typeface="+mn-ea"/>
                          <a:cs typeface="+mn-cs"/>
                        </a:rPr>
                        <a:t>10</a:t>
                      </a:r>
                      <a:r>
                        <a:rPr lang="en-US" dirty="0"/>
                        <a:t>) in memory at </a:t>
                      </a:r>
                      <a:r>
                        <a:rPr lang="en-US" sz="1800" kern="1200" dirty="0" err="1">
                          <a:solidFill>
                            <a:schemeClr val="dk1"/>
                          </a:solidFill>
                          <a:latin typeface="+mn-lt"/>
                          <a:ea typeface="+mn-ea"/>
                          <a:cs typeface="+mn-cs"/>
                        </a:rPr>
                        <a:t>fp</a:t>
                      </a:r>
                      <a:r>
                        <a:rPr lang="en-US" sz="1800" kern="1200" dirty="0">
                          <a:solidFill>
                            <a:schemeClr val="dk1"/>
                          </a:solidFill>
                          <a:latin typeface="+mn-lt"/>
                          <a:ea typeface="+mn-ea"/>
                          <a:cs typeface="+mn-cs"/>
                        </a:rPr>
                        <a:t> - 24</a:t>
                      </a:r>
                      <a:r>
                        <a:rPr lang="en-US" dirty="0"/>
                        <a:t>.</a:t>
                      </a:r>
                      <a:endParaRPr lang="en-IN" dirty="0"/>
                    </a:p>
                  </a:txBody>
                  <a:tcPr/>
                </a:tc>
                <a:extLst>
                  <a:ext uri="{0D108BD9-81ED-4DB2-BD59-A6C34878D82A}">
                    <a16:rowId xmlns:a16="http://schemas.microsoft.com/office/drawing/2014/main" val="15554461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A2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22960" y="279001"/>
            <a:ext cx="10883392" cy="528320"/>
          </a:xfrm>
          <a:prstGeom prst="rect">
            <a:avLst/>
          </a:prstGeom>
          <a:noFill/>
          <a:ln/>
        </p:spPr>
        <p:txBody>
          <a:bodyPr wrap="square" lIns="0" tIns="0" rIns="0" bIns="0" rtlCol="0" anchor="t">
            <a:normAutofit/>
          </a:bodyPr>
          <a:lstStyle/>
          <a:p>
            <a:pPr>
              <a:lnSpc>
                <a:spcPts val="3960"/>
              </a:lnSpc>
            </a:pPr>
            <a:r>
              <a:rPr lang="en-US" b="1" dirty="0"/>
              <a:t>add.s: d = 5c, printf and return</a:t>
            </a:r>
            <a:endParaRPr lang="en-US" sz="3600" dirty="0"/>
          </a:p>
        </p:txBody>
      </p:sp>
      <p:sp>
        <p:nvSpPr>
          <p:cNvPr id="4" name="Text 1"/>
          <p:cNvSpPr/>
          <p:nvPr/>
        </p:nvSpPr>
        <p:spPr>
          <a:xfrm>
            <a:off x="812800" y="6286899"/>
            <a:ext cx="10883392" cy="292100"/>
          </a:xfrm>
          <a:prstGeom prst="rect">
            <a:avLst/>
          </a:prstGeom>
          <a:noFill/>
          <a:ln/>
        </p:spPr>
        <p:txBody>
          <a:bodyPr wrap="square" lIns="0" tIns="0" rIns="0" bIns="0" rtlCol="0" anchor="t">
            <a:normAutofit/>
          </a:bodyPr>
          <a:lstStyle/>
          <a:p>
            <a:pPr marL="0" indent="0" algn="l">
              <a:lnSpc>
                <a:spcPts val="2100"/>
              </a:lnSpc>
              <a:buNone/>
            </a:pPr>
            <a:r>
              <a:rPr lang="en-US" sz="2000" b="1" dirty="0">
                <a:solidFill>
                  <a:srgbClr val="F0B35A"/>
                </a:solidFill>
                <a:latin typeface="Arial" pitchFamily="34" charset="0"/>
                <a:ea typeface="Arial" pitchFamily="34" charset="-122"/>
                <a:cs typeface="Arial" pitchFamily="34" charset="-120"/>
              </a:rPr>
              <a:t>Output on QEMU: 50. Multiplying by 5 uses a shift and an add, not a mul.</a:t>
            </a:r>
            <a:endParaRPr lang="en-US" sz="2000" dirty="0"/>
          </a:p>
        </p:txBody>
      </p:sp>
      <p:graphicFrame>
        <p:nvGraphicFramePr>
          <p:cNvPr id="6" name="Table 5">
            <a:extLst>
              <a:ext uri="{FF2B5EF4-FFF2-40B4-BE49-F238E27FC236}">
                <a16:creationId xmlns:a16="http://schemas.microsoft.com/office/drawing/2014/main" id="{22192765-119D-A434-7CCC-85AA3C070629}"/>
              </a:ext>
            </a:extLst>
          </p:cNvPr>
          <p:cNvGraphicFramePr>
            <a:graphicFrameLocks noGrp="1"/>
          </p:cNvGraphicFramePr>
          <p:nvPr>
            <p:extLst>
              <p:ext uri="{D42A27DB-BD31-4B8C-83A1-F6EECF244321}">
                <p14:modId xmlns:p14="http://schemas.microsoft.com/office/powerpoint/2010/main" val="2899364985"/>
              </p:ext>
            </p:extLst>
          </p:nvPr>
        </p:nvGraphicFramePr>
        <p:xfrm>
          <a:off x="812800" y="981518"/>
          <a:ext cx="11048198" cy="5699891"/>
        </p:xfrm>
        <a:graphic>
          <a:graphicData uri="http://schemas.openxmlformats.org/drawingml/2006/table">
            <a:tbl>
              <a:tblPr firstRow="1" bandRow="1">
                <a:tableStyleId>{073A0DAA-6AF3-43AB-8588-CEC1D06C72B9}</a:tableStyleId>
              </a:tblPr>
              <a:tblGrid>
                <a:gridCol w="5524099">
                  <a:extLst>
                    <a:ext uri="{9D8B030D-6E8A-4147-A177-3AD203B41FA5}">
                      <a16:colId xmlns:a16="http://schemas.microsoft.com/office/drawing/2014/main" val="2583191116"/>
                    </a:ext>
                  </a:extLst>
                </a:gridCol>
                <a:gridCol w="5524099">
                  <a:extLst>
                    <a:ext uri="{9D8B030D-6E8A-4147-A177-3AD203B41FA5}">
                      <a16:colId xmlns:a16="http://schemas.microsoft.com/office/drawing/2014/main" val="1321246702"/>
                    </a:ext>
                  </a:extLst>
                </a:gridCol>
              </a:tblGrid>
              <a:tr h="388612">
                <a:tc>
                  <a:txBody>
                    <a:bodyPr/>
                    <a:lstStyle/>
                    <a:p>
                      <a:r>
                        <a:rPr lang="en-IN" sz="1800" b="1" i="0" kern="1200" dirty="0">
                          <a:solidFill>
                            <a:schemeClr val="lt1"/>
                          </a:solidFill>
                          <a:effectLst/>
                          <a:latin typeface="+mn-lt"/>
                          <a:ea typeface="+mn-ea"/>
                          <a:cs typeface="+mn-cs"/>
                        </a:rPr>
                        <a:t>Instruction</a:t>
                      </a:r>
                      <a:endParaRPr lang="en-IN" dirty="0"/>
                    </a:p>
                  </a:txBody>
                  <a:tcPr/>
                </a:tc>
                <a:tc>
                  <a:txBody>
                    <a:bodyPr/>
                    <a:lstStyle/>
                    <a:p>
                      <a:r>
                        <a:rPr lang="en-IN" sz="1800" b="1" i="0" kern="1200" dirty="0">
                          <a:solidFill>
                            <a:schemeClr val="lt1"/>
                          </a:solidFill>
                          <a:effectLst/>
                          <a:latin typeface="+mn-lt"/>
                          <a:ea typeface="+mn-ea"/>
                          <a:cs typeface="+mn-cs"/>
                        </a:rPr>
                        <a:t>Explanation</a:t>
                      </a:r>
                      <a:endParaRPr lang="en-IN" dirty="0"/>
                    </a:p>
                  </a:txBody>
                  <a:tcPr/>
                </a:tc>
                <a:extLst>
                  <a:ext uri="{0D108BD9-81ED-4DB2-BD59-A6C34878D82A}">
                    <a16:rowId xmlns:a16="http://schemas.microsoft.com/office/drawing/2014/main" val="4161010096"/>
                  </a:ext>
                </a:extLst>
              </a:tr>
              <a:tr h="388612">
                <a:tc>
                  <a:txBody>
                    <a:bodyPr/>
                    <a:lstStyle/>
                    <a:p>
                      <a:r>
                        <a:rPr lang="en-IN" sz="1800" b="0" i="0" kern="1200" dirty="0" err="1">
                          <a:solidFill>
                            <a:schemeClr val="dk1"/>
                          </a:solidFill>
                          <a:effectLst/>
                          <a:latin typeface="+mn-lt"/>
                          <a:ea typeface="+mn-ea"/>
                          <a:cs typeface="+mn-cs"/>
                        </a:rPr>
                        <a:t>ldr</a:t>
                      </a:r>
                      <a:r>
                        <a:rPr lang="en-IN" sz="1800" b="0" i="0" kern="1200" dirty="0">
                          <a:solidFill>
                            <a:schemeClr val="dk1"/>
                          </a:solidFill>
                          <a:effectLst/>
                          <a:latin typeface="+mn-lt"/>
                          <a:ea typeface="+mn-ea"/>
                          <a:cs typeface="+mn-cs"/>
                        </a:rPr>
                        <a:t> r2, [</a:t>
                      </a:r>
                      <a:r>
                        <a:rPr lang="en-IN" sz="1800" b="0" i="0" kern="1200" dirty="0" err="1">
                          <a:solidFill>
                            <a:schemeClr val="dk1"/>
                          </a:solidFill>
                          <a:effectLst/>
                          <a:latin typeface="+mn-lt"/>
                          <a:ea typeface="+mn-ea"/>
                          <a:cs typeface="+mn-cs"/>
                        </a:rPr>
                        <a:t>fp</a:t>
                      </a:r>
                      <a:r>
                        <a:rPr lang="en-IN" sz="1800" b="0" i="0" kern="1200" dirty="0">
                          <a:solidFill>
                            <a:schemeClr val="dk1"/>
                          </a:solidFill>
                          <a:effectLst/>
                          <a:latin typeface="+mn-lt"/>
                          <a:ea typeface="+mn-ea"/>
                          <a:cs typeface="+mn-cs"/>
                        </a:rPr>
                        <a:t>, #-24]</a:t>
                      </a:r>
                      <a:endParaRPr lang="en-IN" dirty="0"/>
                    </a:p>
                  </a:txBody>
                  <a:tcPr/>
                </a:tc>
                <a:tc>
                  <a:txBody>
                    <a:bodyPr/>
                    <a:lstStyle/>
                    <a:p>
                      <a:r>
                        <a:rPr lang="en-US" dirty="0"/>
                        <a:t>Loads the value stored at </a:t>
                      </a:r>
                      <a:r>
                        <a:rPr lang="en-US" sz="1800" kern="1200" dirty="0" err="1">
                          <a:solidFill>
                            <a:schemeClr val="dk1"/>
                          </a:solidFill>
                          <a:latin typeface="+mn-lt"/>
                          <a:ea typeface="+mn-ea"/>
                          <a:cs typeface="+mn-cs"/>
                        </a:rPr>
                        <a:t>fp</a:t>
                      </a:r>
                      <a:r>
                        <a:rPr lang="en-US" sz="1800" kern="1200" dirty="0">
                          <a:solidFill>
                            <a:schemeClr val="dk1"/>
                          </a:solidFill>
                          <a:latin typeface="+mn-lt"/>
                          <a:ea typeface="+mn-ea"/>
                          <a:cs typeface="+mn-cs"/>
                        </a:rPr>
                        <a:t> - 24</a:t>
                      </a:r>
                      <a:r>
                        <a:rPr lang="en-US" dirty="0"/>
                        <a:t> into register </a:t>
                      </a:r>
                      <a:r>
                        <a:rPr lang="en-US" sz="1800" kern="1200" dirty="0">
                          <a:solidFill>
                            <a:schemeClr val="dk1"/>
                          </a:solidFill>
                          <a:latin typeface="+mn-lt"/>
                          <a:ea typeface="+mn-ea"/>
                          <a:cs typeface="+mn-cs"/>
                        </a:rPr>
                        <a:t>r2</a:t>
                      </a:r>
                      <a:r>
                        <a:rPr lang="en-US" dirty="0"/>
                        <a:t> (10)</a:t>
                      </a:r>
                      <a:endParaRPr lang="en-IN" dirty="0"/>
                    </a:p>
                  </a:txBody>
                  <a:tcPr/>
                </a:tc>
                <a:extLst>
                  <a:ext uri="{0D108BD9-81ED-4DB2-BD59-A6C34878D82A}">
                    <a16:rowId xmlns:a16="http://schemas.microsoft.com/office/drawing/2014/main" val="2605260574"/>
                  </a:ext>
                </a:extLst>
              </a:tr>
              <a:tr h="388612">
                <a:tc>
                  <a:txBody>
                    <a:bodyPr/>
                    <a:lstStyle/>
                    <a:p>
                      <a:r>
                        <a:rPr lang="en-IN" sz="1800" b="0" i="0" kern="1200" dirty="0">
                          <a:solidFill>
                            <a:schemeClr val="dk1"/>
                          </a:solidFill>
                          <a:effectLst/>
                          <a:latin typeface="+mn-lt"/>
                          <a:ea typeface="+mn-ea"/>
                          <a:cs typeface="+mn-cs"/>
                        </a:rPr>
                        <a:t>mov r3, r2</a:t>
                      </a:r>
                      <a:endParaRPr lang="en-IN" dirty="0"/>
                    </a:p>
                  </a:txBody>
                  <a:tcPr/>
                </a:tc>
                <a:tc>
                  <a:txBody>
                    <a:bodyPr/>
                    <a:lstStyle/>
                    <a:p>
                      <a:r>
                        <a:rPr lang="en-US" dirty="0"/>
                        <a:t>Copies the value of </a:t>
                      </a:r>
                      <a:r>
                        <a:rPr lang="en-US" sz="1800" kern="1200" dirty="0">
                          <a:solidFill>
                            <a:schemeClr val="dk1"/>
                          </a:solidFill>
                          <a:latin typeface="+mn-lt"/>
                          <a:ea typeface="+mn-ea"/>
                          <a:cs typeface="+mn-cs"/>
                        </a:rPr>
                        <a:t>r2</a:t>
                      </a:r>
                      <a:r>
                        <a:rPr lang="en-US" dirty="0"/>
                        <a:t> into </a:t>
                      </a:r>
                      <a:r>
                        <a:rPr lang="en-US" sz="1800" kern="1200" dirty="0">
                          <a:solidFill>
                            <a:schemeClr val="dk1"/>
                          </a:solidFill>
                          <a:latin typeface="+mn-lt"/>
                          <a:ea typeface="+mn-ea"/>
                          <a:cs typeface="+mn-cs"/>
                        </a:rPr>
                        <a:t>r3</a:t>
                      </a:r>
                      <a:r>
                        <a:rPr lang="en-US" dirty="0"/>
                        <a:t>.</a:t>
                      </a:r>
                      <a:endParaRPr lang="en-IN" dirty="0"/>
                    </a:p>
                  </a:txBody>
                  <a:tcPr/>
                </a:tc>
                <a:extLst>
                  <a:ext uri="{0D108BD9-81ED-4DB2-BD59-A6C34878D82A}">
                    <a16:rowId xmlns:a16="http://schemas.microsoft.com/office/drawing/2014/main" val="3336854371"/>
                  </a:ext>
                </a:extLst>
              </a:tr>
              <a:tr h="388612">
                <a:tc>
                  <a:txBody>
                    <a:bodyPr/>
                    <a:lstStyle/>
                    <a:p>
                      <a:r>
                        <a:rPr lang="pt-BR" sz="1800" b="0" i="0" kern="1200" dirty="0">
                          <a:solidFill>
                            <a:schemeClr val="dk1"/>
                          </a:solidFill>
                          <a:effectLst/>
                          <a:latin typeface="+mn-lt"/>
                          <a:ea typeface="+mn-ea"/>
                          <a:cs typeface="+mn-cs"/>
                        </a:rPr>
                        <a:t>mov r3, r3, asl #2</a:t>
                      </a:r>
                      <a:endParaRPr lang="en-IN" dirty="0"/>
                    </a:p>
                  </a:txBody>
                  <a:tcPr/>
                </a:tc>
                <a:tc>
                  <a:txBody>
                    <a:bodyPr/>
                    <a:lstStyle/>
                    <a:p>
                      <a:r>
                        <a:rPr lang="en-US" dirty="0"/>
                        <a:t>Shifts the value in </a:t>
                      </a:r>
                      <a:r>
                        <a:rPr lang="en-US" sz="1800" kern="1200" dirty="0">
                          <a:solidFill>
                            <a:schemeClr val="dk1"/>
                          </a:solidFill>
                          <a:latin typeface="+mn-lt"/>
                          <a:ea typeface="+mn-ea"/>
                          <a:cs typeface="+mn-cs"/>
                        </a:rPr>
                        <a:t>r3</a:t>
                      </a:r>
                      <a:r>
                        <a:rPr lang="en-US" dirty="0"/>
                        <a:t> left by 2 bits, multiplying it by 4.</a:t>
                      </a:r>
                      <a:endParaRPr lang="en-IN" dirty="0"/>
                    </a:p>
                  </a:txBody>
                  <a:tcPr/>
                </a:tc>
                <a:extLst>
                  <a:ext uri="{0D108BD9-81ED-4DB2-BD59-A6C34878D82A}">
                    <a16:rowId xmlns:a16="http://schemas.microsoft.com/office/drawing/2014/main" val="2574328097"/>
                  </a:ext>
                </a:extLst>
              </a:tr>
              <a:tr h="388612">
                <a:tc>
                  <a:txBody>
                    <a:bodyPr/>
                    <a:lstStyle/>
                    <a:p>
                      <a:r>
                        <a:rPr lang="en-IN" sz="1800" b="0" i="0" kern="1200" dirty="0">
                          <a:solidFill>
                            <a:schemeClr val="dk1"/>
                          </a:solidFill>
                          <a:effectLst/>
                          <a:latin typeface="+mn-lt"/>
                          <a:ea typeface="+mn-ea"/>
                          <a:cs typeface="+mn-cs"/>
                        </a:rPr>
                        <a:t>add r3, r3, r2</a:t>
                      </a:r>
                      <a:endParaRPr lang="en-IN" dirty="0"/>
                    </a:p>
                  </a:txBody>
                  <a:tcPr/>
                </a:tc>
                <a:tc>
                  <a:txBody>
                    <a:bodyPr/>
                    <a:lstStyle/>
                    <a:p>
                      <a:r>
                        <a:rPr lang="en-US" dirty="0"/>
                        <a:t>Adds </a:t>
                      </a:r>
                      <a:r>
                        <a:rPr lang="en-US" sz="1800" kern="1200" dirty="0">
                          <a:solidFill>
                            <a:schemeClr val="dk1"/>
                          </a:solidFill>
                          <a:latin typeface="+mn-lt"/>
                          <a:ea typeface="+mn-ea"/>
                          <a:cs typeface="+mn-cs"/>
                        </a:rPr>
                        <a:t>r3</a:t>
                      </a:r>
                      <a:r>
                        <a:rPr lang="en-US" dirty="0"/>
                        <a:t> and </a:t>
                      </a:r>
                      <a:r>
                        <a:rPr lang="en-US" sz="1800" kern="1200" dirty="0">
                          <a:solidFill>
                            <a:schemeClr val="dk1"/>
                          </a:solidFill>
                          <a:latin typeface="+mn-lt"/>
                          <a:ea typeface="+mn-ea"/>
                          <a:cs typeface="+mn-cs"/>
                        </a:rPr>
                        <a:t>r2</a:t>
                      </a:r>
                      <a:r>
                        <a:rPr lang="en-US" dirty="0"/>
                        <a:t> and stores the result (</a:t>
                      </a:r>
                      <a:r>
                        <a:rPr lang="en-US" sz="1800" kern="1200" dirty="0">
                          <a:solidFill>
                            <a:schemeClr val="dk1"/>
                          </a:solidFill>
                          <a:latin typeface="+mn-lt"/>
                          <a:ea typeface="+mn-ea"/>
                          <a:cs typeface="+mn-cs"/>
                        </a:rPr>
                        <a:t>50</a:t>
                      </a:r>
                      <a:r>
                        <a:rPr lang="en-US" dirty="0"/>
                        <a:t>) in </a:t>
                      </a:r>
                      <a:r>
                        <a:rPr lang="en-US" sz="1800" kern="1200" dirty="0">
                          <a:solidFill>
                            <a:schemeClr val="dk1"/>
                          </a:solidFill>
                          <a:latin typeface="+mn-lt"/>
                          <a:ea typeface="+mn-ea"/>
                          <a:cs typeface="+mn-cs"/>
                        </a:rPr>
                        <a:t>r3</a:t>
                      </a:r>
                      <a:endParaRPr lang="en-IN" dirty="0"/>
                    </a:p>
                  </a:txBody>
                  <a:tcPr/>
                </a:tc>
                <a:extLst>
                  <a:ext uri="{0D108BD9-81ED-4DB2-BD59-A6C34878D82A}">
                    <a16:rowId xmlns:a16="http://schemas.microsoft.com/office/drawing/2014/main" val="3757029699"/>
                  </a:ext>
                </a:extLst>
              </a:tr>
              <a:tr h="388612">
                <a:tc>
                  <a:txBody>
                    <a:bodyPr/>
                    <a:lstStyle/>
                    <a:p>
                      <a:r>
                        <a:rPr lang="en-IN" sz="1800" b="0" i="0" kern="1200" dirty="0">
                          <a:solidFill>
                            <a:schemeClr val="dk1"/>
                          </a:solidFill>
                          <a:effectLst/>
                          <a:latin typeface="+mn-lt"/>
                          <a:ea typeface="+mn-ea"/>
                          <a:cs typeface="+mn-cs"/>
                        </a:rPr>
                        <a:t>str r3, [</a:t>
                      </a:r>
                      <a:r>
                        <a:rPr lang="en-IN" sz="1800" b="0" i="0" kern="1200" dirty="0" err="1">
                          <a:solidFill>
                            <a:schemeClr val="dk1"/>
                          </a:solidFill>
                          <a:effectLst/>
                          <a:latin typeface="+mn-lt"/>
                          <a:ea typeface="+mn-ea"/>
                          <a:cs typeface="+mn-cs"/>
                        </a:rPr>
                        <a:t>fp</a:t>
                      </a:r>
                      <a:r>
                        <a:rPr lang="en-IN" sz="1800" b="0" i="0" kern="1200" dirty="0">
                          <a:solidFill>
                            <a:schemeClr val="dk1"/>
                          </a:solidFill>
                          <a:effectLst/>
                          <a:latin typeface="+mn-lt"/>
                          <a:ea typeface="+mn-ea"/>
                          <a:cs typeface="+mn-cs"/>
                        </a:rPr>
                        <a:t>, #-28]</a:t>
                      </a:r>
                      <a:endParaRPr lang="en-IN" dirty="0"/>
                    </a:p>
                  </a:txBody>
                  <a:tcPr/>
                </a:tc>
                <a:tc>
                  <a:txBody>
                    <a:bodyPr/>
                    <a:lstStyle/>
                    <a:p>
                      <a:r>
                        <a:rPr lang="en-US" dirty="0"/>
                        <a:t>Stores the result (</a:t>
                      </a:r>
                      <a:r>
                        <a:rPr lang="en-US" sz="1800" kern="1200" dirty="0">
                          <a:solidFill>
                            <a:schemeClr val="dk1"/>
                          </a:solidFill>
                          <a:latin typeface="+mn-lt"/>
                          <a:ea typeface="+mn-ea"/>
                          <a:cs typeface="+mn-cs"/>
                        </a:rPr>
                        <a:t>50</a:t>
                      </a:r>
                      <a:r>
                        <a:rPr lang="en-US" dirty="0"/>
                        <a:t>) in memory at </a:t>
                      </a:r>
                      <a:r>
                        <a:rPr lang="en-US" sz="1800" kern="1200" dirty="0" err="1">
                          <a:solidFill>
                            <a:schemeClr val="dk1"/>
                          </a:solidFill>
                          <a:latin typeface="+mn-lt"/>
                          <a:ea typeface="+mn-ea"/>
                          <a:cs typeface="+mn-cs"/>
                        </a:rPr>
                        <a:t>fp</a:t>
                      </a:r>
                      <a:r>
                        <a:rPr lang="en-US" sz="1800" kern="1200" dirty="0">
                          <a:solidFill>
                            <a:schemeClr val="dk1"/>
                          </a:solidFill>
                          <a:latin typeface="+mn-lt"/>
                          <a:ea typeface="+mn-ea"/>
                          <a:cs typeface="+mn-cs"/>
                        </a:rPr>
                        <a:t> - 28</a:t>
                      </a:r>
                      <a:r>
                        <a:rPr lang="en-US" dirty="0"/>
                        <a:t>.</a:t>
                      </a:r>
                      <a:endParaRPr lang="en-IN" dirty="0"/>
                    </a:p>
                  </a:txBody>
                  <a:tcPr/>
                </a:tc>
                <a:extLst>
                  <a:ext uri="{0D108BD9-81ED-4DB2-BD59-A6C34878D82A}">
                    <a16:rowId xmlns:a16="http://schemas.microsoft.com/office/drawing/2014/main" val="2763852139"/>
                  </a:ext>
                </a:extLst>
              </a:tr>
              <a:tr h="388612">
                <a:tc>
                  <a:txBody>
                    <a:bodyPr/>
                    <a:lstStyle/>
                    <a:p>
                      <a:r>
                        <a:rPr lang="en-IN" sz="1800" b="0" i="0" kern="1200" dirty="0" err="1">
                          <a:solidFill>
                            <a:schemeClr val="dk1"/>
                          </a:solidFill>
                          <a:effectLst/>
                          <a:latin typeface="+mn-lt"/>
                          <a:ea typeface="+mn-ea"/>
                          <a:cs typeface="+mn-cs"/>
                        </a:rPr>
                        <a:t>ldr</a:t>
                      </a:r>
                      <a:r>
                        <a:rPr lang="en-IN" sz="1800" b="0" i="0" kern="1200" dirty="0">
                          <a:solidFill>
                            <a:schemeClr val="dk1"/>
                          </a:solidFill>
                          <a:effectLst/>
                          <a:latin typeface="+mn-lt"/>
                          <a:ea typeface="+mn-ea"/>
                          <a:cs typeface="+mn-cs"/>
                        </a:rPr>
                        <a:t> r0, .L2</a:t>
                      </a:r>
                      <a:endParaRPr lang="en-IN" dirty="0"/>
                    </a:p>
                  </a:txBody>
                  <a:tcPr/>
                </a:tc>
                <a:tc>
                  <a:txBody>
                    <a:bodyPr/>
                    <a:lstStyle/>
                    <a:p>
                      <a:r>
                        <a:rPr lang="en-US" dirty="0"/>
                        <a:t>Loads the address of the format string into </a:t>
                      </a:r>
                      <a:r>
                        <a:rPr lang="en-US" sz="1800" kern="1200" dirty="0">
                          <a:solidFill>
                            <a:schemeClr val="dk1"/>
                          </a:solidFill>
                          <a:latin typeface="+mn-lt"/>
                          <a:ea typeface="+mn-ea"/>
                          <a:cs typeface="+mn-cs"/>
                        </a:rPr>
                        <a:t>r0</a:t>
                      </a:r>
                      <a:endParaRPr lang="en-IN" dirty="0"/>
                    </a:p>
                  </a:txBody>
                  <a:tcPr/>
                </a:tc>
                <a:extLst>
                  <a:ext uri="{0D108BD9-81ED-4DB2-BD59-A6C34878D82A}">
                    <a16:rowId xmlns:a16="http://schemas.microsoft.com/office/drawing/2014/main" val="1010955853"/>
                  </a:ext>
                </a:extLst>
              </a:tr>
              <a:tr h="388612">
                <a:tc>
                  <a:txBody>
                    <a:bodyPr/>
                    <a:lstStyle/>
                    <a:p>
                      <a:r>
                        <a:rPr lang="en-IN" sz="1800" b="0" i="0" kern="1200" dirty="0" err="1">
                          <a:solidFill>
                            <a:schemeClr val="dk1"/>
                          </a:solidFill>
                          <a:effectLst/>
                          <a:latin typeface="+mn-lt"/>
                          <a:ea typeface="+mn-ea"/>
                          <a:cs typeface="+mn-cs"/>
                        </a:rPr>
                        <a:t>ldr</a:t>
                      </a:r>
                      <a:r>
                        <a:rPr lang="en-IN" sz="1800" b="0" i="0" kern="1200" dirty="0">
                          <a:solidFill>
                            <a:schemeClr val="dk1"/>
                          </a:solidFill>
                          <a:effectLst/>
                          <a:latin typeface="+mn-lt"/>
                          <a:ea typeface="+mn-ea"/>
                          <a:cs typeface="+mn-cs"/>
                        </a:rPr>
                        <a:t> r1, [</a:t>
                      </a:r>
                      <a:r>
                        <a:rPr lang="en-IN" sz="1800" b="0" i="0" kern="1200" dirty="0" err="1">
                          <a:solidFill>
                            <a:schemeClr val="dk1"/>
                          </a:solidFill>
                          <a:effectLst/>
                          <a:latin typeface="+mn-lt"/>
                          <a:ea typeface="+mn-ea"/>
                          <a:cs typeface="+mn-cs"/>
                        </a:rPr>
                        <a:t>fp</a:t>
                      </a:r>
                      <a:r>
                        <a:rPr lang="en-IN" sz="1800" b="0" i="0" kern="1200" dirty="0">
                          <a:solidFill>
                            <a:schemeClr val="dk1"/>
                          </a:solidFill>
                          <a:effectLst/>
                          <a:latin typeface="+mn-lt"/>
                          <a:ea typeface="+mn-ea"/>
                          <a:cs typeface="+mn-cs"/>
                        </a:rPr>
                        <a:t>, #-28]</a:t>
                      </a:r>
                      <a:endParaRPr lang="en-IN" dirty="0"/>
                    </a:p>
                  </a:txBody>
                  <a:tcPr/>
                </a:tc>
                <a:tc>
                  <a:txBody>
                    <a:bodyPr/>
                    <a:lstStyle/>
                    <a:p>
                      <a:r>
                        <a:rPr lang="en-US" dirty="0"/>
                        <a:t>Loads the value </a:t>
                      </a:r>
                      <a:r>
                        <a:rPr lang="en-US" sz="1800" kern="1200" dirty="0">
                          <a:solidFill>
                            <a:schemeClr val="dk1"/>
                          </a:solidFill>
                          <a:latin typeface="+mn-lt"/>
                          <a:ea typeface="+mn-ea"/>
                          <a:cs typeface="+mn-cs"/>
                        </a:rPr>
                        <a:t>50</a:t>
                      </a:r>
                      <a:r>
                        <a:rPr lang="en-US" dirty="0"/>
                        <a:t> from memory into register </a:t>
                      </a:r>
                      <a:r>
                        <a:rPr lang="en-US" sz="1800" kern="1200" dirty="0">
                          <a:solidFill>
                            <a:schemeClr val="dk1"/>
                          </a:solidFill>
                          <a:latin typeface="+mn-lt"/>
                          <a:ea typeface="+mn-ea"/>
                          <a:cs typeface="+mn-cs"/>
                        </a:rPr>
                        <a:t>r1</a:t>
                      </a:r>
                      <a:endParaRPr lang="en-IN" dirty="0"/>
                    </a:p>
                  </a:txBody>
                  <a:tcPr/>
                </a:tc>
                <a:extLst>
                  <a:ext uri="{0D108BD9-81ED-4DB2-BD59-A6C34878D82A}">
                    <a16:rowId xmlns:a16="http://schemas.microsoft.com/office/drawing/2014/main" val="1282323996"/>
                  </a:ext>
                </a:extLst>
              </a:tr>
              <a:tr h="388612">
                <a:tc>
                  <a:txBody>
                    <a:bodyPr/>
                    <a:lstStyle/>
                    <a:p>
                      <a:r>
                        <a:rPr lang="en-IN" sz="1800" b="0" i="0" kern="1200" dirty="0">
                          <a:solidFill>
                            <a:schemeClr val="dk1"/>
                          </a:solidFill>
                          <a:effectLst/>
                          <a:latin typeface="+mn-lt"/>
                          <a:ea typeface="+mn-ea"/>
                          <a:cs typeface="+mn-cs"/>
                        </a:rPr>
                        <a:t>bl </a:t>
                      </a:r>
                      <a:r>
                        <a:rPr lang="en-IN" sz="1800" b="0" i="0" kern="1200" dirty="0" err="1">
                          <a:solidFill>
                            <a:schemeClr val="dk1"/>
                          </a:solidFill>
                          <a:effectLst/>
                          <a:latin typeface="+mn-lt"/>
                          <a:ea typeface="+mn-ea"/>
                          <a:cs typeface="+mn-cs"/>
                        </a:rPr>
                        <a:t>printf</a:t>
                      </a:r>
                      <a:endParaRPr lang="en-IN" dirty="0"/>
                    </a:p>
                  </a:txBody>
                  <a:tcPr/>
                </a:tc>
                <a:tc>
                  <a:txBody>
                    <a:bodyPr/>
                    <a:lstStyle/>
                    <a:p>
                      <a:r>
                        <a:rPr lang="en-US" dirty="0"/>
                        <a:t>Calls </a:t>
                      </a:r>
                      <a:r>
                        <a:rPr lang="en-US" sz="1800" kern="1200" dirty="0" err="1">
                          <a:solidFill>
                            <a:schemeClr val="dk1"/>
                          </a:solidFill>
                          <a:latin typeface="+mn-lt"/>
                          <a:ea typeface="+mn-ea"/>
                          <a:cs typeface="+mn-cs"/>
                        </a:rPr>
                        <a:t>printf</a:t>
                      </a:r>
                      <a:r>
                        <a:rPr lang="en-US" dirty="0"/>
                        <a:t> to display the formatted output.</a:t>
                      </a:r>
                      <a:endParaRPr lang="en-IN" dirty="0"/>
                    </a:p>
                  </a:txBody>
                  <a:tcPr/>
                </a:tc>
                <a:extLst>
                  <a:ext uri="{0D108BD9-81ED-4DB2-BD59-A6C34878D82A}">
                    <a16:rowId xmlns:a16="http://schemas.microsoft.com/office/drawing/2014/main" val="3921125307"/>
                  </a:ext>
                </a:extLst>
              </a:tr>
              <a:tr h="388612">
                <a:tc>
                  <a:txBody>
                    <a:bodyPr/>
                    <a:lstStyle/>
                    <a:p>
                      <a:r>
                        <a:rPr lang="en-IN" sz="1800" b="0" i="0" kern="1200" dirty="0">
                          <a:solidFill>
                            <a:schemeClr val="dk1"/>
                          </a:solidFill>
                          <a:effectLst/>
                          <a:latin typeface="+mn-lt"/>
                          <a:ea typeface="+mn-ea"/>
                          <a:cs typeface="+mn-cs"/>
                        </a:rPr>
                        <a:t>mov r0, r3</a:t>
                      </a:r>
                      <a:endParaRPr lang="en-IN" dirty="0"/>
                    </a:p>
                  </a:txBody>
                  <a:tcPr/>
                </a:tc>
                <a:tc>
                  <a:txBody>
                    <a:bodyPr/>
                    <a:lstStyle/>
                    <a:p>
                      <a:r>
                        <a:rPr lang="en-US" dirty="0"/>
                        <a:t>Copies the value of </a:t>
                      </a:r>
                      <a:r>
                        <a:rPr lang="en-US" sz="1800" kern="1200" dirty="0">
                          <a:solidFill>
                            <a:schemeClr val="dk1"/>
                          </a:solidFill>
                          <a:latin typeface="+mn-lt"/>
                          <a:ea typeface="+mn-ea"/>
                          <a:cs typeface="+mn-cs"/>
                        </a:rPr>
                        <a:t>r3</a:t>
                      </a:r>
                      <a:r>
                        <a:rPr lang="en-US" dirty="0"/>
                        <a:t> into </a:t>
                      </a:r>
                      <a:r>
                        <a:rPr lang="en-US" sz="1800" kern="1200" dirty="0">
                          <a:solidFill>
                            <a:schemeClr val="dk1"/>
                          </a:solidFill>
                          <a:latin typeface="+mn-lt"/>
                          <a:ea typeface="+mn-ea"/>
                          <a:cs typeface="+mn-cs"/>
                        </a:rPr>
                        <a:t>r0</a:t>
                      </a:r>
                      <a:r>
                        <a:rPr lang="en-US" dirty="0"/>
                        <a:t>.</a:t>
                      </a:r>
                      <a:endParaRPr lang="en-IN" dirty="0"/>
                    </a:p>
                  </a:txBody>
                  <a:tcPr/>
                </a:tc>
                <a:extLst>
                  <a:ext uri="{0D108BD9-81ED-4DB2-BD59-A6C34878D82A}">
                    <a16:rowId xmlns:a16="http://schemas.microsoft.com/office/drawing/2014/main" val="2288183085"/>
                  </a:ext>
                </a:extLst>
              </a:tr>
              <a:tr h="670755">
                <a:tc>
                  <a:txBody>
                    <a:bodyPr/>
                    <a:lstStyle/>
                    <a:p>
                      <a:r>
                        <a:rPr lang="en-IN" sz="1800" b="0" i="0" kern="1200" dirty="0">
                          <a:solidFill>
                            <a:schemeClr val="dk1"/>
                          </a:solidFill>
                          <a:effectLst/>
                          <a:latin typeface="+mn-lt"/>
                          <a:ea typeface="+mn-ea"/>
                          <a:cs typeface="+mn-cs"/>
                        </a:rPr>
                        <a:t>sub </a:t>
                      </a:r>
                      <a:r>
                        <a:rPr lang="en-IN" sz="1800" b="0" i="0" kern="1200" dirty="0" err="1">
                          <a:solidFill>
                            <a:schemeClr val="dk1"/>
                          </a:solidFill>
                          <a:effectLst/>
                          <a:latin typeface="+mn-lt"/>
                          <a:ea typeface="+mn-ea"/>
                          <a:cs typeface="+mn-cs"/>
                        </a:rPr>
                        <a:t>sp</a:t>
                      </a:r>
                      <a:r>
                        <a:rPr lang="en-IN" sz="1800" b="0" i="0" kern="1200" dirty="0">
                          <a:solidFill>
                            <a:schemeClr val="dk1"/>
                          </a:solidFill>
                          <a:effectLst/>
                          <a:latin typeface="+mn-lt"/>
                          <a:ea typeface="+mn-ea"/>
                          <a:cs typeface="+mn-cs"/>
                        </a:rPr>
                        <a:t>, </a:t>
                      </a:r>
                      <a:r>
                        <a:rPr lang="en-IN" sz="1800" b="0" i="0" kern="1200" dirty="0" err="1">
                          <a:solidFill>
                            <a:schemeClr val="dk1"/>
                          </a:solidFill>
                          <a:effectLst/>
                          <a:latin typeface="+mn-lt"/>
                          <a:ea typeface="+mn-ea"/>
                          <a:cs typeface="+mn-cs"/>
                        </a:rPr>
                        <a:t>fp</a:t>
                      </a:r>
                      <a:r>
                        <a:rPr lang="en-IN" sz="1800" b="0" i="0" kern="1200" dirty="0">
                          <a:solidFill>
                            <a:schemeClr val="dk1"/>
                          </a:solidFill>
                          <a:effectLst/>
                          <a:latin typeface="+mn-lt"/>
                          <a:ea typeface="+mn-ea"/>
                          <a:cs typeface="+mn-cs"/>
                        </a:rPr>
                        <a:t>, #12</a:t>
                      </a:r>
                      <a:endParaRPr lang="en-IN" dirty="0"/>
                    </a:p>
                  </a:txBody>
                  <a:tcPr/>
                </a:tc>
                <a:tc>
                  <a:txBody>
                    <a:bodyPr/>
                    <a:lstStyle/>
                    <a:p>
                      <a:pPr>
                        <a:buNone/>
                      </a:pPr>
                      <a:r>
                        <a:rPr lang="en-US" dirty="0"/>
                        <a:t>Resets the stack pointer to 12 bytes before the frame pointer..</a:t>
                      </a:r>
                    </a:p>
                  </a:txBody>
                  <a:tcPr anchor="ctr"/>
                </a:tc>
                <a:extLst>
                  <a:ext uri="{0D108BD9-81ED-4DB2-BD59-A6C34878D82A}">
                    <a16:rowId xmlns:a16="http://schemas.microsoft.com/office/drawing/2014/main" val="1241639988"/>
                  </a:ext>
                </a:extLst>
              </a:tr>
              <a:tr h="383289">
                <a:tc>
                  <a:txBody>
                    <a:bodyPr/>
                    <a:lstStyle/>
                    <a:p>
                      <a:r>
                        <a:rPr lang="en-IN" sz="1800" b="0" i="0" kern="1200" dirty="0" err="1">
                          <a:solidFill>
                            <a:schemeClr val="dk1"/>
                          </a:solidFill>
                          <a:effectLst/>
                          <a:latin typeface="+mn-lt"/>
                          <a:ea typeface="+mn-ea"/>
                          <a:cs typeface="+mn-cs"/>
                        </a:rPr>
                        <a:t>ldmfd</a:t>
                      </a:r>
                      <a:r>
                        <a:rPr lang="en-IN" sz="1800" b="0" i="0" kern="1200" dirty="0">
                          <a:solidFill>
                            <a:schemeClr val="dk1"/>
                          </a:solidFill>
                          <a:effectLst/>
                          <a:latin typeface="+mn-lt"/>
                          <a:ea typeface="+mn-ea"/>
                          <a:cs typeface="+mn-cs"/>
                        </a:rPr>
                        <a:t> </a:t>
                      </a:r>
                      <a:r>
                        <a:rPr lang="en-IN" sz="1800" b="0" i="0" kern="1200" dirty="0" err="1">
                          <a:solidFill>
                            <a:schemeClr val="dk1"/>
                          </a:solidFill>
                          <a:effectLst/>
                          <a:latin typeface="+mn-lt"/>
                          <a:ea typeface="+mn-ea"/>
                          <a:cs typeface="+mn-cs"/>
                        </a:rPr>
                        <a:t>sp</a:t>
                      </a:r>
                      <a:r>
                        <a:rPr lang="en-IN" sz="1800" b="0" i="0" kern="1200" dirty="0">
                          <a:solidFill>
                            <a:schemeClr val="dk1"/>
                          </a:solidFill>
                          <a:effectLst/>
                          <a:latin typeface="+mn-lt"/>
                          <a:ea typeface="+mn-ea"/>
                          <a:cs typeface="+mn-cs"/>
                        </a:rPr>
                        <a:t>, {</a:t>
                      </a:r>
                      <a:r>
                        <a:rPr lang="en-IN" sz="1800" b="0" i="0" kern="1200" dirty="0" err="1">
                          <a:solidFill>
                            <a:schemeClr val="dk1"/>
                          </a:solidFill>
                          <a:effectLst/>
                          <a:latin typeface="+mn-lt"/>
                          <a:ea typeface="+mn-ea"/>
                          <a:cs typeface="+mn-cs"/>
                        </a:rPr>
                        <a:t>fp</a:t>
                      </a:r>
                      <a:r>
                        <a:rPr lang="en-IN" sz="1800" b="0" i="0" kern="1200" dirty="0">
                          <a:solidFill>
                            <a:schemeClr val="dk1"/>
                          </a:solidFill>
                          <a:effectLst/>
                          <a:latin typeface="+mn-lt"/>
                          <a:ea typeface="+mn-ea"/>
                          <a:cs typeface="+mn-cs"/>
                        </a:rPr>
                        <a:t>, </a:t>
                      </a:r>
                      <a:r>
                        <a:rPr lang="en-IN" sz="1800" b="0" i="0" kern="1200" dirty="0" err="1">
                          <a:solidFill>
                            <a:schemeClr val="dk1"/>
                          </a:solidFill>
                          <a:effectLst/>
                          <a:latin typeface="+mn-lt"/>
                          <a:ea typeface="+mn-ea"/>
                          <a:cs typeface="+mn-cs"/>
                        </a:rPr>
                        <a:t>sp</a:t>
                      </a:r>
                      <a:r>
                        <a:rPr lang="en-IN" sz="1800" b="0" i="0" kern="1200" dirty="0">
                          <a:solidFill>
                            <a:schemeClr val="dk1"/>
                          </a:solidFill>
                          <a:effectLst/>
                          <a:latin typeface="+mn-lt"/>
                          <a:ea typeface="+mn-ea"/>
                          <a:cs typeface="+mn-cs"/>
                        </a:rPr>
                        <a:t>, pc}</a:t>
                      </a:r>
                      <a:endParaRPr lang="en-IN" dirty="0"/>
                    </a:p>
                  </a:txBody>
                  <a:tcPr/>
                </a:tc>
                <a:tc>
                  <a:txBody>
                    <a:bodyPr/>
                    <a:lstStyle/>
                    <a:p>
                      <a:r>
                        <a:rPr lang="en-US" dirty="0"/>
                        <a:t>Restores the saved registers and returns to the calling function</a:t>
                      </a:r>
                      <a:endParaRPr lang="en-IN" dirty="0"/>
                    </a:p>
                  </a:txBody>
                  <a:tcPr/>
                </a:tc>
                <a:extLst>
                  <a:ext uri="{0D108BD9-81ED-4DB2-BD59-A6C34878D82A}">
                    <a16:rowId xmlns:a16="http://schemas.microsoft.com/office/drawing/2014/main" val="3140427135"/>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C2333"/>
                </a:solidFill>
                <a:latin typeface="Georgia" pitchFamily="18" charset="0"/>
                <a:ea typeface="Georgia" pitchFamily="18" charset="-122"/>
                <a:cs typeface="Georgia" pitchFamily="18" charset="-120"/>
              </a:rPr>
              <a:t>factorial.s: tracing recursion for n = 3</a:t>
            </a:r>
            <a:endParaRPr lang="en-US" sz="3600" dirty="0"/>
          </a:p>
        </p:txBody>
      </p:sp>
      <p:sp>
        <p:nvSpPr>
          <p:cNvPr id="18" name="Rectangle: Rounded Corners 17">
            <a:extLst>
              <a:ext uri="{FF2B5EF4-FFF2-40B4-BE49-F238E27FC236}">
                <a16:creationId xmlns:a16="http://schemas.microsoft.com/office/drawing/2014/main" id="{605587A6-5F55-CCBC-2A97-C7266374EC1E}"/>
              </a:ext>
            </a:extLst>
          </p:cNvPr>
          <p:cNvSpPr/>
          <p:nvPr/>
        </p:nvSpPr>
        <p:spPr>
          <a:xfrm>
            <a:off x="812801" y="1812758"/>
            <a:ext cx="4352758" cy="2502568"/>
          </a:xfrm>
          <a:prstGeom prst="round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IN" dirty="0"/>
          </a:p>
        </p:txBody>
      </p:sp>
      <p:sp>
        <p:nvSpPr>
          <p:cNvPr id="19" name="TextBox 18">
            <a:extLst>
              <a:ext uri="{FF2B5EF4-FFF2-40B4-BE49-F238E27FC236}">
                <a16:creationId xmlns:a16="http://schemas.microsoft.com/office/drawing/2014/main" id="{93D0DC1B-BE07-5582-47D2-1D5F55DF403B}"/>
              </a:ext>
            </a:extLst>
          </p:cNvPr>
          <p:cNvSpPr txBox="1"/>
          <p:nvPr/>
        </p:nvSpPr>
        <p:spPr>
          <a:xfrm>
            <a:off x="1090864" y="2069432"/>
            <a:ext cx="2589170" cy="369332"/>
          </a:xfrm>
          <a:prstGeom prst="rect">
            <a:avLst/>
          </a:prstGeom>
          <a:noFill/>
        </p:spPr>
        <p:txBody>
          <a:bodyPr wrap="none" rtlCol="0">
            <a:spAutoFit/>
          </a:bodyPr>
          <a:lstStyle/>
          <a:p>
            <a:r>
              <a:rPr lang="en-US" b="1" dirty="0">
                <a:solidFill>
                  <a:schemeClr val="accent1"/>
                </a:solidFill>
              </a:rPr>
              <a:t>factorial.c -&gt; key lines</a:t>
            </a:r>
            <a:endParaRPr lang="en-IN" b="1" dirty="0">
              <a:solidFill>
                <a:schemeClr val="accent1"/>
              </a:solidFill>
            </a:endParaRPr>
          </a:p>
        </p:txBody>
      </p:sp>
      <p:sp>
        <p:nvSpPr>
          <p:cNvPr id="20" name="TextBox 19">
            <a:extLst>
              <a:ext uri="{FF2B5EF4-FFF2-40B4-BE49-F238E27FC236}">
                <a16:creationId xmlns:a16="http://schemas.microsoft.com/office/drawing/2014/main" id="{0FBCAF80-278C-4EB1-CF4E-61703C76DEE0}"/>
              </a:ext>
            </a:extLst>
          </p:cNvPr>
          <p:cNvSpPr txBox="1"/>
          <p:nvPr/>
        </p:nvSpPr>
        <p:spPr>
          <a:xfrm>
            <a:off x="1090864" y="2470848"/>
            <a:ext cx="3015915" cy="1703030"/>
          </a:xfrm>
          <a:prstGeom prst="rect">
            <a:avLst/>
          </a:prstGeom>
          <a:noFill/>
        </p:spPr>
        <p:txBody>
          <a:bodyPr wrap="square" rtlCol="0">
            <a:spAutoFit/>
          </a:bodyPr>
          <a:lstStyle/>
          <a:p>
            <a:pPr>
              <a:lnSpc>
                <a:spcPct val="150000"/>
              </a:lnSpc>
            </a:pPr>
            <a:r>
              <a:rPr lang="en-IN" dirty="0">
                <a:latin typeface="Aptos" panose="020B0004020202020204" pitchFamily="34" charset="0"/>
              </a:rPr>
              <a:t>int factorial (int n)</a:t>
            </a:r>
          </a:p>
          <a:p>
            <a:pPr>
              <a:lnSpc>
                <a:spcPct val="150000"/>
              </a:lnSpc>
            </a:pPr>
            <a:r>
              <a:rPr lang="en-US" dirty="0">
                <a:latin typeface="Aptos" panose="020B0004020202020204" pitchFamily="34" charset="0"/>
              </a:rPr>
              <a:t>if (n == 1) return 1;</a:t>
            </a:r>
          </a:p>
          <a:p>
            <a:pPr>
              <a:lnSpc>
                <a:spcPct val="150000"/>
              </a:lnSpc>
            </a:pPr>
            <a:r>
              <a:rPr lang="pt-BR" dirty="0">
                <a:latin typeface="Aptos" panose="020B0004020202020204" pitchFamily="34" charset="0"/>
              </a:rPr>
              <a:t>return n * factorial(n - 1);</a:t>
            </a:r>
          </a:p>
          <a:p>
            <a:pPr>
              <a:lnSpc>
                <a:spcPct val="150000"/>
              </a:lnSpc>
            </a:pPr>
            <a:r>
              <a:rPr lang="en-IN" dirty="0">
                <a:latin typeface="Aptos" panose="020B0004020202020204" pitchFamily="34" charset="0"/>
              </a:rPr>
              <a:t>int val = factorial(3);</a:t>
            </a:r>
          </a:p>
        </p:txBody>
      </p:sp>
      <p:sp>
        <p:nvSpPr>
          <p:cNvPr id="22" name="Rectangle: Rounded Corners 21">
            <a:extLst>
              <a:ext uri="{FF2B5EF4-FFF2-40B4-BE49-F238E27FC236}">
                <a16:creationId xmlns:a16="http://schemas.microsoft.com/office/drawing/2014/main" id="{D8AB59D9-295E-453C-D5CD-AB58A254D76A}"/>
              </a:ext>
            </a:extLst>
          </p:cNvPr>
          <p:cNvSpPr/>
          <p:nvPr/>
        </p:nvSpPr>
        <p:spPr>
          <a:xfrm>
            <a:off x="6096000" y="1812758"/>
            <a:ext cx="5283199" cy="1219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Rectangle: Rounded Corners 22">
            <a:extLst>
              <a:ext uri="{FF2B5EF4-FFF2-40B4-BE49-F238E27FC236}">
                <a16:creationId xmlns:a16="http://schemas.microsoft.com/office/drawing/2014/main" id="{8C50FA4F-E640-D2AC-5966-E32694113A9C}"/>
              </a:ext>
            </a:extLst>
          </p:cNvPr>
          <p:cNvSpPr/>
          <p:nvPr/>
        </p:nvSpPr>
        <p:spPr>
          <a:xfrm>
            <a:off x="6096000" y="5119838"/>
            <a:ext cx="5283199" cy="1219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a:p>
            <a:r>
              <a:rPr lang="en-US" dirty="0">
                <a:solidFill>
                  <a:schemeClr val="accent2"/>
                </a:solidFill>
              </a:rPr>
              <a:t>n = 1 matches, so it stores 1 at [</a:t>
            </a:r>
            <a:r>
              <a:rPr lang="en-US" dirty="0" err="1">
                <a:solidFill>
                  <a:schemeClr val="accent2"/>
                </a:solidFill>
              </a:rPr>
              <a:t>fp</a:t>
            </a:r>
            <a:r>
              <a:rPr lang="en-US" dirty="0">
                <a:solidFill>
                  <a:schemeClr val="accent2"/>
                </a:solidFill>
              </a:rPr>
              <a:t>,#-20] and returns 1 in r0</a:t>
            </a:r>
            <a:r>
              <a:rPr lang="en-US" dirty="0"/>
              <a:t>.</a:t>
            </a:r>
            <a:endParaRPr lang="en-IN" dirty="0"/>
          </a:p>
        </p:txBody>
      </p:sp>
      <p:sp>
        <p:nvSpPr>
          <p:cNvPr id="24" name="Rectangle: Rounded Corners 23">
            <a:extLst>
              <a:ext uri="{FF2B5EF4-FFF2-40B4-BE49-F238E27FC236}">
                <a16:creationId xmlns:a16="http://schemas.microsoft.com/office/drawing/2014/main" id="{5379BEBC-081B-6B2C-329C-04F07A0CDC80}"/>
              </a:ext>
            </a:extLst>
          </p:cNvPr>
          <p:cNvSpPr/>
          <p:nvPr/>
        </p:nvSpPr>
        <p:spPr>
          <a:xfrm>
            <a:off x="6095999" y="3429000"/>
            <a:ext cx="5283199" cy="1219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a:p>
            <a:r>
              <a:rPr lang="en-US" dirty="0">
                <a:solidFill>
                  <a:schemeClr val="accent2"/>
                </a:solidFill>
              </a:rPr>
              <a:t>n = 2 is not equal to 1, so r0 = 1 and the next call starts</a:t>
            </a:r>
            <a:r>
              <a:rPr lang="en-US" dirty="0"/>
              <a:t>.</a:t>
            </a:r>
            <a:endParaRPr lang="en-IN" dirty="0"/>
          </a:p>
        </p:txBody>
      </p:sp>
      <p:sp>
        <p:nvSpPr>
          <p:cNvPr id="25" name="TextBox 24">
            <a:extLst>
              <a:ext uri="{FF2B5EF4-FFF2-40B4-BE49-F238E27FC236}">
                <a16:creationId xmlns:a16="http://schemas.microsoft.com/office/drawing/2014/main" id="{3F94C4EA-AE11-2854-C84D-9C09B2D81B05}"/>
              </a:ext>
            </a:extLst>
          </p:cNvPr>
          <p:cNvSpPr txBox="1"/>
          <p:nvPr/>
        </p:nvSpPr>
        <p:spPr>
          <a:xfrm>
            <a:off x="6254496" y="1884766"/>
            <a:ext cx="1364476" cy="369332"/>
          </a:xfrm>
          <a:prstGeom prst="rect">
            <a:avLst/>
          </a:prstGeom>
          <a:noFill/>
        </p:spPr>
        <p:txBody>
          <a:bodyPr wrap="none" rtlCol="0">
            <a:spAutoFit/>
          </a:bodyPr>
          <a:lstStyle/>
          <a:p>
            <a:r>
              <a:rPr lang="en-IN" b="1" dirty="0">
                <a:solidFill>
                  <a:schemeClr val="bg1"/>
                </a:solidFill>
              </a:rPr>
              <a:t>factorial(3)</a:t>
            </a:r>
            <a:endParaRPr lang="en-IN" dirty="0">
              <a:solidFill>
                <a:schemeClr val="bg1"/>
              </a:solidFill>
            </a:endParaRPr>
          </a:p>
        </p:txBody>
      </p:sp>
      <p:sp>
        <p:nvSpPr>
          <p:cNvPr id="26" name="TextBox 25">
            <a:extLst>
              <a:ext uri="{FF2B5EF4-FFF2-40B4-BE49-F238E27FC236}">
                <a16:creationId xmlns:a16="http://schemas.microsoft.com/office/drawing/2014/main" id="{044EB187-CFF4-3315-D5F1-5D40C0399FA0}"/>
              </a:ext>
            </a:extLst>
          </p:cNvPr>
          <p:cNvSpPr txBox="1"/>
          <p:nvPr/>
        </p:nvSpPr>
        <p:spPr>
          <a:xfrm>
            <a:off x="6254496" y="2281808"/>
            <a:ext cx="5124702" cy="646331"/>
          </a:xfrm>
          <a:prstGeom prst="rect">
            <a:avLst/>
          </a:prstGeom>
          <a:noFill/>
        </p:spPr>
        <p:txBody>
          <a:bodyPr wrap="square" rtlCol="0">
            <a:spAutoFit/>
          </a:bodyPr>
          <a:lstStyle/>
          <a:p>
            <a:r>
              <a:rPr lang="en-US" dirty="0">
                <a:solidFill>
                  <a:schemeClr val="accent2"/>
                </a:solidFill>
              </a:rPr>
              <a:t>n = 3 is not equal to 1, so r0 = 2 and bl factorial runs again.</a:t>
            </a:r>
            <a:endParaRPr lang="en-IN" dirty="0">
              <a:solidFill>
                <a:schemeClr val="accent2"/>
              </a:solidFill>
            </a:endParaRPr>
          </a:p>
        </p:txBody>
      </p:sp>
      <p:sp>
        <p:nvSpPr>
          <p:cNvPr id="27" name="TextBox 26">
            <a:extLst>
              <a:ext uri="{FF2B5EF4-FFF2-40B4-BE49-F238E27FC236}">
                <a16:creationId xmlns:a16="http://schemas.microsoft.com/office/drawing/2014/main" id="{C04B77AD-B33D-80C0-F90B-B05CA5691D72}"/>
              </a:ext>
            </a:extLst>
          </p:cNvPr>
          <p:cNvSpPr txBox="1"/>
          <p:nvPr/>
        </p:nvSpPr>
        <p:spPr>
          <a:xfrm>
            <a:off x="6254496" y="3501008"/>
            <a:ext cx="1364476" cy="369332"/>
          </a:xfrm>
          <a:prstGeom prst="rect">
            <a:avLst/>
          </a:prstGeom>
          <a:noFill/>
        </p:spPr>
        <p:txBody>
          <a:bodyPr wrap="none" rtlCol="0">
            <a:spAutoFit/>
          </a:bodyPr>
          <a:lstStyle/>
          <a:p>
            <a:r>
              <a:rPr lang="en-IN" b="1" dirty="0">
                <a:solidFill>
                  <a:schemeClr val="bg2">
                    <a:lumMod val="50000"/>
                  </a:schemeClr>
                </a:solidFill>
              </a:rPr>
              <a:t>factorial(2)</a:t>
            </a:r>
            <a:endParaRPr lang="en-IN" dirty="0">
              <a:solidFill>
                <a:schemeClr val="bg2">
                  <a:lumMod val="50000"/>
                </a:schemeClr>
              </a:solidFill>
            </a:endParaRPr>
          </a:p>
        </p:txBody>
      </p:sp>
      <p:sp>
        <p:nvSpPr>
          <p:cNvPr id="28" name="TextBox 27">
            <a:extLst>
              <a:ext uri="{FF2B5EF4-FFF2-40B4-BE49-F238E27FC236}">
                <a16:creationId xmlns:a16="http://schemas.microsoft.com/office/drawing/2014/main" id="{3358CD33-4678-990C-430E-E9A5B621BDC6}"/>
              </a:ext>
            </a:extLst>
          </p:cNvPr>
          <p:cNvSpPr txBox="1"/>
          <p:nvPr/>
        </p:nvSpPr>
        <p:spPr>
          <a:xfrm>
            <a:off x="6254496" y="5138287"/>
            <a:ext cx="1364476" cy="369332"/>
          </a:xfrm>
          <a:prstGeom prst="rect">
            <a:avLst/>
          </a:prstGeom>
          <a:noFill/>
        </p:spPr>
        <p:txBody>
          <a:bodyPr wrap="none" rtlCol="0">
            <a:spAutoFit/>
          </a:bodyPr>
          <a:lstStyle/>
          <a:p>
            <a:r>
              <a:rPr lang="en-IN" b="1" dirty="0">
                <a:solidFill>
                  <a:schemeClr val="bg2">
                    <a:lumMod val="50000"/>
                  </a:schemeClr>
                </a:solidFill>
              </a:rPr>
              <a:t>factorial(1)</a:t>
            </a:r>
            <a:endParaRPr lang="en-IN" dirty="0">
              <a:solidFill>
                <a:schemeClr val="bg2">
                  <a:lumMod val="50000"/>
                </a:schemeClr>
              </a:solidFill>
            </a:endParaRPr>
          </a:p>
        </p:txBody>
      </p:sp>
      <p:sp>
        <p:nvSpPr>
          <p:cNvPr id="29" name="TextBox 28">
            <a:extLst>
              <a:ext uri="{FF2B5EF4-FFF2-40B4-BE49-F238E27FC236}">
                <a16:creationId xmlns:a16="http://schemas.microsoft.com/office/drawing/2014/main" id="{73B87752-17E8-EF28-4603-49C9324A5789}"/>
              </a:ext>
            </a:extLst>
          </p:cNvPr>
          <p:cNvSpPr txBox="1"/>
          <p:nvPr/>
        </p:nvSpPr>
        <p:spPr>
          <a:xfrm>
            <a:off x="641685" y="5186777"/>
            <a:ext cx="5173211" cy="369332"/>
          </a:xfrm>
          <a:prstGeom prst="rect">
            <a:avLst/>
          </a:prstGeom>
          <a:noFill/>
        </p:spPr>
        <p:txBody>
          <a:bodyPr wrap="none" rtlCol="0">
            <a:spAutoFit/>
          </a:bodyPr>
          <a:lstStyle/>
          <a:p>
            <a:r>
              <a:rPr lang="en-US" b="1" dirty="0">
                <a:solidFill>
                  <a:schemeClr val="bg2">
                    <a:lumMod val="50000"/>
                  </a:schemeClr>
                </a:solidFill>
              </a:rPr>
              <a:t>Calls go 3 → 2 → 1. Results return 1 → 2 → 6.</a:t>
            </a:r>
            <a:endParaRPr lang="en-IN" dirty="0">
              <a:solidFill>
                <a:schemeClr val="bg2">
                  <a:lumMod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C"/>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C2333"/>
                </a:solidFill>
                <a:latin typeface="Georgia" pitchFamily="18" charset="0"/>
                <a:ea typeface="Georgia" pitchFamily="18" charset="-122"/>
                <a:cs typeface="Georgia" pitchFamily="18" charset="-120"/>
              </a:rPr>
              <a:t>factorial trace: registers and memory</a:t>
            </a:r>
            <a:endParaRPr lang="en-US" sz="3600" dirty="0"/>
          </a:p>
        </p:txBody>
      </p:sp>
      <p:sp>
        <p:nvSpPr>
          <p:cNvPr id="4" name="Text 1"/>
          <p:cNvSpPr/>
          <p:nvPr/>
        </p:nvSpPr>
        <p:spPr>
          <a:xfrm>
            <a:off x="812800" y="6238242"/>
            <a:ext cx="3137345"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Arial" pitchFamily="34" charset="0"/>
                <a:ea typeface="Arial" pitchFamily="34" charset="-122"/>
                <a:cs typeface="Arial" pitchFamily="34" charset="-120"/>
              </a:rPr>
              <a:t>COA Assignment 1 · NIT Srinagar · Q8</a:t>
            </a:r>
            <a:endParaRPr lang="en-US" sz="1200" dirty="0"/>
          </a:p>
        </p:txBody>
      </p:sp>
      <p:graphicFrame>
        <p:nvGraphicFramePr>
          <p:cNvPr id="6" name="Table 5">
            <a:extLst>
              <a:ext uri="{FF2B5EF4-FFF2-40B4-BE49-F238E27FC236}">
                <a16:creationId xmlns:a16="http://schemas.microsoft.com/office/drawing/2014/main" id="{7BE52176-7F3E-E642-4B58-72541CC53ED9}"/>
              </a:ext>
            </a:extLst>
          </p:cNvPr>
          <p:cNvGraphicFramePr>
            <a:graphicFrameLocks noGrp="1"/>
          </p:cNvGraphicFramePr>
          <p:nvPr>
            <p:extLst>
              <p:ext uri="{D42A27DB-BD31-4B8C-83A1-F6EECF244321}">
                <p14:modId xmlns:p14="http://schemas.microsoft.com/office/powerpoint/2010/main" val="2177315451"/>
              </p:ext>
            </p:extLst>
          </p:nvPr>
        </p:nvGraphicFramePr>
        <p:xfrm>
          <a:off x="812800" y="1461345"/>
          <a:ext cx="10769600" cy="2135214"/>
        </p:xfrm>
        <a:graphic>
          <a:graphicData uri="http://schemas.openxmlformats.org/drawingml/2006/table">
            <a:tbl>
              <a:tblPr firstRow="1" bandRow="1">
                <a:tableStyleId>{073A0DAA-6AF3-43AB-8588-CEC1D06C72B9}</a:tableStyleId>
              </a:tblPr>
              <a:tblGrid>
                <a:gridCol w="2153920">
                  <a:extLst>
                    <a:ext uri="{9D8B030D-6E8A-4147-A177-3AD203B41FA5}">
                      <a16:colId xmlns:a16="http://schemas.microsoft.com/office/drawing/2014/main" val="185995707"/>
                    </a:ext>
                  </a:extLst>
                </a:gridCol>
                <a:gridCol w="2153920">
                  <a:extLst>
                    <a:ext uri="{9D8B030D-6E8A-4147-A177-3AD203B41FA5}">
                      <a16:colId xmlns:a16="http://schemas.microsoft.com/office/drawing/2014/main" val="3845833964"/>
                    </a:ext>
                  </a:extLst>
                </a:gridCol>
                <a:gridCol w="2153920">
                  <a:extLst>
                    <a:ext uri="{9D8B030D-6E8A-4147-A177-3AD203B41FA5}">
                      <a16:colId xmlns:a16="http://schemas.microsoft.com/office/drawing/2014/main" val="541912869"/>
                    </a:ext>
                  </a:extLst>
                </a:gridCol>
                <a:gridCol w="2153920">
                  <a:extLst>
                    <a:ext uri="{9D8B030D-6E8A-4147-A177-3AD203B41FA5}">
                      <a16:colId xmlns:a16="http://schemas.microsoft.com/office/drawing/2014/main" val="1376769969"/>
                    </a:ext>
                  </a:extLst>
                </a:gridCol>
                <a:gridCol w="2153920">
                  <a:extLst>
                    <a:ext uri="{9D8B030D-6E8A-4147-A177-3AD203B41FA5}">
                      <a16:colId xmlns:a16="http://schemas.microsoft.com/office/drawing/2014/main" val="1046336285"/>
                    </a:ext>
                  </a:extLst>
                </a:gridCol>
              </a:tblGrid>
              <a:tr h="427527">
                <a:tc>
                  <a:txBody>
                    <a:bodyPr/>
                    <a:lstStyle/>
                    <a:p>
                      <a:pPr algn="ctr"/>
                      <a:r>
                        <a:rPr lang="en-IN" sz="1800" b="1" i="0" kern="1200" dirty="0">
                          <a:solidFill>
                            <a:schemeClr val="lt1"/>
                          </a:solidFill>
                          <a:effectLst/>
                          <a:latin typeface="+mn-lt"/>
                          <a:ea typeface="+mn-ea"/>
                          <a:cs typeface="+mn-cs"/>
                        </a:rPr>
                        <a:t>Call</a:t>
                      </a:r>
                      <a:endParaRPr lang="en-IN" dirty="0"/>
                    </a:p>
                  </a:txBody>
                  <a:tcPr/>
                </a:tc>
                <a:tc>
                  <a:txBody>
                    <a:bodyPr/>
                    <a:lstStyle/>
                    <a:p>
                      <a:pPr algn="ctr"/>
                      <a:r>
                        <a:rPr lang="en-IN" sz="1800" b="1" i="0" kern="1200" dirty="0">
                          <a:solidFill>
                            <a:schemeClr val="lt1"/>
                          </a:solidFill>
                          <a:effectLst/>
                          <a:latin typeface="+mn-lt"/>
                          <a:ea typeface="+mn-ea"/>
                          <a:cs typeface="+mn-cs"/>
                        </a:rPr>
                        <a:t>n at [</a:t>
                      </a:r>
                      <a:r>
                        <a:rPr lang="en-IN" sz="1800" b="1" i="0" kern="1200" dirty="0" err="1">
                          <a:solidFill>
                            <a:schemeClr val="lt1"/>
                          </a:solidFill>
                          <a:effectLst/>
                          <a:latin typeface="+mn-lt"/>
                          <a:ea typeface="+mn-ea"/>
                          <a:cs typeface="+mn-cs"/>
                        </a:rPr>
                        <a:t>fp</a:t>
                      </a:r>
                      <a:r>
                        <a:rPr lang="en-IN" sz="1800" b="1" i="0" kern="1200" dirty="0">
                          <a:solidFill>
                            <a:schemeClr val="lt1"/>
                          </a:solidFill>
                          <a:effectLst/>
                          <a:latin typeface="+mn-lt"/>
                          <a:ea typeface="+mn-ea"/>
                          <a:cs typeface="+mn-cs"/>
                        </a:rPr>
                        <a:t>,#-16]</a:t>
                      </a:r>
                      <a:endParaRPr lang="en-IN" dirty="0"/>
                    </a:p>
                  </a:txBody>
                  <a:tcPr/>
                </a:tc>
                <a:tc>
                  <a:txBody>
                    <a:bodyPr/>
                    <a:lstStyle/>
                    <a:p>
                      <a:pPr algn="ctr"/>
                      <a:r>
                        <a:rPr lang="en-IN" sz="1800" b="1" i="0" kern="1200" dirty="0" err="1">
                          <a:solidFill>
                            <a:schemeClr val="lt1"/>
                          </a:solidFill>
                          <a:effectLst/>
                          <a:latin typeface="+mn-lt"/>
                          <a:ea typeface="+mn-ea"/>
                          <a:cs typeface="+mn-cs"/>
                        </a:rPr>
                        <a:t>cmp</a:t>
                      </a:r>
                      <a:r>
                        <a:rPr lang="en-IN" sz="1800" b="1" i="0" kern="1200" dirty="0">
                          <a:solidFill>
                            <a:schemeClr val="lt1"/>
                          </a:solidFill>
                          <a:effectLst/>
                          <a:latin typeface="+mn-lt"/>
                          <a:ea typeface="+mn-ea"/>
                          <a:cs typeface="+mn-cs"/>
                        </a:rPr>
                        <a:t> r3,#1</a:t>
                      </a:r>
                      <a:endParaRPr lang="en-IN" dirty="0"/>
                    </a:p>
                  </a:txBody>
                  <a:tcPr/>
                </a:tc>
                <a:tc>
                  <a:txBody>
                    <a:bodyPr/>
                    <a:lstStyle/>
                    <a:p>
                      <a:pPr algn="ctr"/>
                      <a:r>
                        <a:rPr lang="en-IN" sz="1800" b="1" i="0" kern="1200" dirty="0">
                          <a:solidFill>
                            <a:schemeClr val="lt1"/>
                          </a:solidFill>
                          <a:effectLst/>
                          <a:latin typeface="+mn-lt"/>
                          <a:ea typeface="+mn-ea"/>
                          <a:cs typeface="+mn-cs"/>
                        </a:rPr>
                        <a:t>Next step</a:t>
                      </a:r>
                      <a:endParaRPr lang="en-IN" dirty="0"/>
                    </a:p>
                  </a:txBody>
                  <a:tcPr/>
                </a:tc>
                <a:tc>
                  <a:txBody>
                    <a:bodyPr/>
                    <a:lstStyle/>
                    <a:p>
                      <a:pPr algn="ctr"/>
                      <a:r>
                        <a:rPr lang="en-IN" sz="1800" b="1" i="0" kern="1200" dirty="0">
                          <a:solidFill>
                            <a:schemeClr val="lt1"/>
                          </a:solidFill>
                          <a:effectLst/>
                          <a:latin typeface="+mn-lt"/>
                          <a:ea typeface="+mn-ea"/>
                          <a:cs typeface="+mn-cs"/>
                        </a:rPr>
                        <a:t>Returns</a:t>
                      </a:r>
                      <a:endParaRPr lang="en-IN" dirty="0"/>
                    </a:p>
                  </a:txBody>
                  <a:tcPr/>
                </a:tc>
                <a:extLst>
                  <a:ext uri="{0D108BD9-81ED-4DB2-BD59-A6C34878D82A}">
                    <a16:rowId xmlns:a16="http://schemas.microsoft.com/office/drawing/2014/main" val="3572480925"/>
                  </a:ext>
                </a:extLst>
              </a:tr>
              <a:tr h="427527">
                <a:tc>
                  <a:txBody>
                    <a:bodyPr/>
                    <a:lstStyle/>
                    <a:p>
                      <a:pPr algn="ctr"/>
                      <a:r>
                        <a:rPr lang="en-IN" sz="1800" b="0" i="0" kern="1200" dirty="0">
                          <a:solidFill>
                            <a:schemeClr val="dk1"/>
                          </a:solidFill>
                          <a:effectLst/>
                          <a:latin typeface="+mn-lt"/>
                          <a:ea typeface="+mn-ea"/>
                          <a:cs typeface="+mn-cs"/>
                        </a:rPr>
                        <a:t>factorial(3)</a:t>
                      </a:r>
                      <a:endParaRPr lang="en-IN" dirty="0"/>
                    </a:p>
                  </a:txBody>
                  <a:tcPr/>
                </a:tc>
                <a:tc>
                  <a:txBody>
                    <a:bodyPr/>
                    <a:lstStyle/>
                    <a:p>
                      <a:pPr algn="ctr"/>
                      <a:r>
                        <a:rPr lang="en-US" dirty="0"/>
                        <a:t>3</a:t>
                      </a:r>
                      <a:endParaRPr lang="en-IN" dirty="0"/>
                    </a:p>
                  </a:txBody>
                  <a:tcPr/>
                </a:tc>
                <a:tc>
                  <a:txBody>
                    <a:bodyPr/>
                    <a:lstStyle/>
                    <a:p>
                      <a:pPr algn="ctr"/>
                      <a:r>
                        <a:rPr lang="en-US" dirty="0"/>
                        <a:t>Not equal</a:t>
                      </a:r>
                      <a:endParaRPr lang="en-IN" dirty="0"/>
                    </a:p>
                  </a:txBody>
                  <a:tcPr/>
                </a:tc>
                <a:tc>
                  <a:txBody>
                    <a:bodyPr/>
                    <a:lstStyle/>
                    <a:p>
                      <a:pPr algn="ctr"/>
                      <a:r>
                        <a:rPr lang="en-IN" sz="1800" b="0" i="0" kern="1200" dirty="0">
                          <a:solidFill>
                            <a:schemeClr val="dk1"/>
                          </a:solidFill>
                          <a:effectLst/>
                          <a:latin typeface="+mn-lt"/>
                          <a:ea typeface="+mn-ea"/>
                          <a:cs typeface="+mn-cs"/>
                        </a:rPr>
                        <a:t>r0 = 2, bl factorial</a:t>
                      </a:r>
                      <a:endParaRPr lang="en-IN" dirty="0"/>
                    </a:p>
                  </a:txBody>
                  <a:tcPr/>
                </a:tc>
                <a:tc>
                  <a:txBody>
                    <a:bodyPr/>
                    <a:lstStyle/>
                    <a:p>
                      <a:pPr algn="ctr"/>
                      <a:r>
                        <a:rPr lang="en-IN" sz="1800" b="0" i="0" kern="1200" dirty="0">
                          <a:solidFill>
                            <a:schemeClr val="dk1"/>
                          </a:solidFill>
                          <a:effectLst/>
                          <a:latin typeface="+mn-lt"/>
                          <a:ea typeface="+mn-ea"/>
                          <a:cs typeface="+mn-cs"/>
                        </a:rPr>
                        <a:t>3 × 2 = 6</a:t>
                      </a:r>
                      <a:endParaRPr lang="en-IN" dirty="0"/>
                    </a:p>
                  </a:txBody>
                  <a:tcPr/>
                </a:tc>
                <a:extLst>
                  <a:ext uri="{0D108BD9-81ED-4DB2-BD59-A6C34878D82A}">
                    <a16:rowId xmlns:a16="http://schemas.microsoft.com/office/drawing/2014/main" val="2926533247"/>
                  </a:ext>
                </a:extLst>
              </a:tr>
              <a:tr h="556300">
                <a:tc>
                  <a:txBody>
                    <a:bodyPr/>
                    <a:lstStyle/>
                    <a:p>
                      <a:pPr algn="ctr"/>
                      <a:r>
                        <a:rPr lang="en-IN" sz="1800" b="0" i="0" kern="1200" dirty="0">
                          <a:solidFill>
                            <a:schemeClr val="dk1"/>
                          </a:solidFill>
                          <a:effectLst/>
                          <a:latin typeface="+mn-lt"/>
                          <a:ea typeface="+mn-ea"/>
                          <a:cs typeface="+mn-cs"/>
                        </a:rPr>
                        <a:t>factorial(2)</a:t>
                      </a:r>
                      <a:endParaRPr lang="en-IN" dirty="0"/>
                    </a:p>
                  </a:txBody>
                  <a:tcPr/>
                </a:tc>
                <a:tc>
                  <a:txBody>
                    <a:bodyPr/>
                    <a:lstStyle/>
                    <a:p>
                      <a:pPr algn="ctr"/>
                      <a:r>
                        <a:rPr lang="en-US" dirty="0"/>
                        <a:t>2</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Not equal</a:t>
                      </a:r>
                      <a:endParaRPr lang="en-IN" dirty="0"/>
                    </a:p>
                    <a:p>
                      <a:endParaRPr lang="en-IN" dirty="0"/>
                    </a:p>
                  </a:txBody>
                  <a:tcPr/>
                </a:tc>
                <a:tc>
                  <a:txBody>
                    <a:bodyPr/>
                    <a:lstStyle/>
                    <a:p>
                      <a:pPr algn="ctr"/>
                      <a:r>
                        <a:rPr lang="en-IN" sz="1800" b="0" i="0" kern="1200" dirty="0">
                          <a:solidFill>
                            <a:schemeClr val="dk1"/>
                          </a:solidFill>
                          <a:effectLst/>
                          <a:latin typeface="+mn-lt"/>
                          <a:ea typeface="+mn-ea"/>
                          <a:cs typeface="+mn-cs"/>
                        </a:rPr>
                        <a:t>r0 = 1, bl factorial</a:t>
                      </a:r>
                      <a:endParaRPr lang="en-IN" dirty="0"/>
                    </a:p>
                  </a:txBody>
                  <a:tcPr/>
                </a:tc>
                <a:tc>
                  <a:txBody>
                    <a:bodyPr/>
                    <a:lstStyle/>
                    <a:p>
                      <a:pPr algn="ctr"/>
                      <a:r>
                        <a:rPr lang="en-IN" sz="1800" b="0" i="0" kern="1200" dirty="0">
                          <a:solidFill>
                            <a:schemeClr val="dk1"/>
                          </a:solidFill>
                          <a:effectLst/>
                          <a:latin typeface="+mn-lt"/>
                          <a:ea typeface="+mn-ea"/>
                          <a:cs typeface="+mn-cs"/>
                        </a:rPr>
                        <a:t>2 × 1 = 2</a:t>
                      </a:r>
                      <a:endParaRPr lang="en-IN" dirty="0"/>
                    </a:p>
                  </a:txBody>
                  <a:tcPr/>
                </a:tc>
                <a:extLst>
                  <a:ext uri="{0D108BD9-81ED-4DB2-BD59-A6C34878D82A}">
                    <a16:rowId xmlns:a16="http://schemas.microsoft.com/office/drawing/2014/main" val="2527515911"/>
                  </a:ext>
                </a:extLst>
              </a:tr>
              <a:tr h="556300">
                <a:tc>
                  <a:txBody>
                    <a:bodyPr/>
                    <a:lstStyle/>
                    <a:p>
                      <a:pPr algn="ctr"/>
                      <a:r>
                        <a:rPr lang="en-IN" sz="1800" b="0" i="0" kern="1200" dirty="0">
                          <a:solidFill>
                            <a:schemeClr val="dk1"/>
                          </a:solidFill>
                          <a:effectLst/>
                          <a:latin typeface="+mn-lt"/>
                          <a:ea typeface="+mn-ea"/>
                          <a:cs typeface="+mn-cs"/>
                        </a:rPr>
                        <a:t>factorial(1)</a:t>
                      </a:r>
                      <a:endParaRPr lang="en-IN" dirty="0"/>
                    </a:p>
                  </a:txBody>
                  <a:tcPr/>
                </a:tc>
                <a:tc>
                  <a:txBody>
                    <a:bodyPr/>
                    <a:lstStyle/>
                    <a:p>
                      <a:pPr algn="ctr"/>
                      <a:r>
                        <a:rPr lang="en-US" dirty="0"/>
                        <a:t>1</a:t>
                      </a:r>
                      <a:endParaRPr lang="en-IN"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Equal </a:t>
                      </a:r>
                      <a:endParaRPr lang="en-IN" dirty="0"/>
                    </a:p>
                    <a:p>
                      <a:endParaRPr lang="en-IN" dirty="0"/>
                    </a:p>
                  </a:txBody>
                  <a:tcPr/>
                </a:tc>
                <a:tc>
                  <a:txBody>
                    <a:bodyPr/>
                    <a:lstStyle/>
                    <a:p>
                      <a:pPr algn="ctr"/>
                      <a:r>
                        <a:rPr lang="en-IN" sz="1800" b="0" i="0" kern="1200" dirty="0">
                          <a:solidFill>
                            <a:schemeClr val="dk1"/>
                          </a:solidFill>
                          <a:effectLst/>
                          <a:latin typeface="+mn-lt"/>
                          <a:ea typeface="+mn-ea"/>
                          <a:cs typeface="+mn-cs"/>
                        </a:rPr>
                        <a:t>stores 1, b .L1</a:t>
                      </a:r>
                      <a:endParaRPr lang="en-IN" dirty="0"/>
                    </a:p>
                  </a:txBody>
                  <a:tcPr/>
                </a:tc>
                <a:tc>
                  <a:txBody>
                    <a:bodyPr/>
                    <a:lstStyle/>
                    <a:p>
                      <a:pPr algn="ctr"/>
                      <a:r>
                        <a:rPr lang="en-IN" sz="1800" b="0" i="0" kern="1200" dirty="0">
                          <a:solidFill>
                            <a:schemeClr val="dk1"/>
                          </a:solidFill>
                          <a:effectLst/>
                          <a:latin typeface="+mn-lt"/>
                          <a:ea typeface="+mn-ea"/>
                          <a:cs typeface="+mn-cs"/>
                        </a:rPr>
                        <a:t>1</a:t>
                      </a:r>
                      <a:endParaRPr lang="en-IN" dirty="0"/>
                    </a:p>
                  </a:txBody>
                  <a:tcPr/>
                </a:tc>
                <a:extLst>
                  <a:ext uri="{0D108BD9-81ED-4DB2-BD59-A6C34878D82A}">
                    <a16:rowId xmlns:a16="http://schemas.microsoft.com/office/drawing/2014/main" val="756018210"/>
                  </a:ext>
                </a:extLst>
              </a:tr>
            </a:tbl>
          </a:graphicData>
        </a:graphic>
      </p:graphicFrame>
      <p:sp>
        <p:nvSpPr>
          <p:cNvPr id="7" name="TextBox 6">
            <a:extLst>
              <a:ext uri="{FF2B5EF4-FFF2-40B4-BE49-F238E27FC236}">
                <a16:creationId xmlns:a16="http://schemas.microsoft.com/office/drawing/2014/main" id="{D458AF7F-E4C6-021C-1390-95D673C87FD3}"/>
              </a:ext>
            </a:extLst>
          </p:cNvPr>
          <p:cNvSpPr txBox="1"/>
          <p:nvPr/>
        </p:nvSpPr>
        <p:spPr>
          <a:xfrm>
            <a:off x="543575" y="3815347"/>
            <a:ext cx="10879901" cy="369332"/>
          </a:xfrm>
          <a:prstGeom prst="rect">
            <a:avLst/>
          </a:prstGeom>
          <a:noFill/>
        </p:spPr>
        <p:txBody>
          <a:bodyPr wrap="none" rtlCol="0">
            <a:spAutoFit/>
          </a:bodyPr>
          <a:lstStyle/>
          <a:p>
            <a:r>
              <a:rPr lang="en-US" dirty="0">
                <a:solidFill>
                  <a:schemeClr val="bg2">
                    <a:lumMod val="50000"/>
                  </a:schemeClr>
                </a:solidFill>
              </a:rPr>
              <a:t>On each return, mov r3,r0 takes the result of the deeper call, and </a:t>
            </a:r>
            <a:r>
              <a:rPr lang="en-US" dirty="0" err="1">
                <a:solidFill>
                  <a:schemeClr val="bg2">
                    <a:lumMod val="50000"/>
                  </a:schemeClr>
                </a:solidFill>
              </a:rPr>
              <a:t>mul</a:t>
            </a:r>
            <a:r>
              <a:rPr lang="en-US" dirty="0">
                <a:solidFill>
                  <a:schemeClr val="bg2">
                    <a:lumMod val="50000"/>
                  </a:schemeClr>
                </a:solidFill>
              </a:rPr>
              <a:t> r3,r2,r3 multiplies it by the saved n.</a:t>
            </a:r>
            <a:endParaRPr lang="en-IN" dirty="0">
              <a:solidFill>
                <a:schemeClr val="bg2">
                  <a:lumMod val="50000"/>
                </a:schemeClr>
              </a:solidFill>
            </a:endParaRPr>
          </a:p>
        </p:txBody>
      </p:sp>
      <p:sp>
        <p:nvSpPr>
          <p:cNvPr id="8" name="Rectangle: Rounded Corners 7">
            <a:extLst>
              <a:ext uri="{FF2B5EF4-FFF2-40B4-BE49-F238E27FC236}">
                <a16:creationId xmlns:a16="http://schemas.microsoft.com/office/drawing/2014/main" id="{54F3A5F6-03EF-80BB-462F-66584537AC81}"/>
              </a:ext>
            </a:extLst>
          </p:cNvPr>
          <p:cNvSpPr/>
          <p:nvPr/>
        </p:nvSpPr>
        <p:spPr>
          <a:xfrm>
            <a:off x="812800" y="4475746"/>
            <a:ext cx="5283200" cy="156945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b="1" dirty="0">
                <a:solidFill>
                  <a:schemeClr val="bg1">
                    <a:lumMod val="90000"/>
                    <a:lumOff val="10000"/>
                  </a:schemeClr>
                </a:solidFill>
              </a:rPr>
              <a:t>Four one-word stores: saved </a:t>
            </a:r>
            <a:r>
              <a:rPr lang="en-US" b="1" dirty="0" err="1">
                <a:solidFill>
                  <a:schemeClr val="bg1">
                    <a:lumMod val="90000"/>
                    <a:lumOff val="10000"/>
                  </a:schemeClr>
                </a:solidFill>
              </a:rPr>
              <a:t>fp</a:t>
            </a:r>
            <a:r>
              <a:rPr lang="en-US" b="1" dirty="0">
                <a:solidFill>
                  <a:schemeClr val="bg1">
                    <a:lumMod val="90000"/>
                    <a:lumOff val="10000"/>
                  </a:schemeClr>
                </a:solidFill>
              </a:rPr>
              <a:t>, </a:t>
            </a:r>
            <a:r>
              <a:rPr lang="en-US" b="1" dirty="0" err="1">
                <a:solidFill>
                  <a:schemeClr val="bg1">
                    <a:lumMod val="90000"/>
                    <a:lumOff val="10000"/>
                  </a:schemeClr>
                </a:solidFill>
              </a:rPr>
              <a:t>ip</a:t>
            </a:r>
            <a:r>
              <a:rPr lang="en-US" b="1" dirty="0">
                <a:solidFill>
                  <a:schemeClr val="bg1">
                    <a:lumMod val="90000"/>
                    <a:lumOff val="10000"/>
                  </a:schemeClr>
                </a:solidFill>
              </a:rPr>
              <a:t>, </a:t>
            </a:r>
            <a:r>
              <a:rPr lang="en-US" b="1" dirty="0" err="1">
                <a:solidFill>
                  <a:schemeClr val="bg1">
                    <a:lumMod val="90000"/>
                    <a:lumOff val="10000"/>
                  </a:schemeClr>
                </a:solidFill>
              </a:rPr>
              <a:t>lr</a:t>
            </a:r>
            <a:r>
              <a:rPr lang="en-US" b="1" dirty="0">
                <a:solidFill>
                  <a:schemeClr val="bg1">
                    <a:lumMod val="90000"/>
                    <a:lumOff val="10000"/>
                  </a:schemeClr>
                </a:solidFill>
              </a:rPr>
              <a:t> (return address) and pc. 4 × 4 bytes = 16 bytes per frame.</a:t>
            </a:r>
            <a:endParaRPr lang="en-IN" b="1" dirty="0">
              <a:solidFill>
                <a:schemeClr val="bg1">
                  <a:lumMod val="90000"/>
                  <a:lumOff val="10000"/>
                </a:schemeClr>
              </a:solidFill>
            </a:endParaRPr>
          </a:p>
        </p:txBody>
      </p:sp>
      <p:sp>
        <p:nvSpPr>
          <p:cNvPr id="9" name="Rectangle: Rounded Corners 8">
            <a:extLst>
              <a:ext uri="{FF2B5EF4-FFF2-40B4-BE49-F238E27FC236}">
                <a16:creationId xmlns:a16="http://schemas.microsoft.com/office/drawing/2014/main" id="{9677FAE5-3AC4-70ED-A733-FD9E402A5BE4}"/>
              </a:ext>
            </a:extLst>
          </p:cNvPr>
          <p:cNvSpPr/>
          <p:nvPr/>
        </p:nvSpPr>
        <p:spPr>
          <a:xfrm>
            <a:off x="6299200" y="4490275"/>
            <a:ext cx="5283200" cy="155492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a:p>
            <a:pPr algn="ctr"/>
            <a:r>
              <a:rPr lang="en-US" b="1" dirty="0">
                <a:solidFill>
                  <a:schemeClr val="bg1">
                    <a:lumMod val="90000"/>
                    <a:lumOff val="10000"/>
                  </a:schemeClr>
                </a:solidFill>
              </a:rPr>
              <a:t>Three loads: restore </a:t>
            </a:r>
            <a:r>
              <a:rPr lang="en-US" b="1" dirty="0" err="1">
                <a:solidFill>
                  <a:schemeClr val="bg1">
                    <a:lumMod val="90000"/>
                    <a:lumOff val="10000"/>
                  </a:schemeClr>
                </a:solidFill>
              </a:rPr>
              <a:t>fp</a:t>
            </a:r>
            <a:r>
              <a:rPr lang="en-US" b="1" dirty="0">
                <a:solidFill>
                  <a:schemeClr val="bg1">
                    <a:lumMod val="90000"/>
                    <a:lumOff val="10000"/>
                  </a:schemeClr>
                </a:solidFill>
              </a:rPr>
              <a:t>, restore </a:t>
            </a:r>
            <a:r>
              <a:rPr lang="en-US" b="1" dirty="0" err="1">
                <a:solidFill>
                  <a:schemeClr val="bg1">
                    <a:lumMod val="90000"/>
                    <a:lumOff val="10000"/>
                  </a:schemeClr>
                </a:solidFill>
              </a:rPr>
              <a:t>sp</a:t>
            </a:r>
            <a:r>
              <a:rPr lang="en-US" b="1" dirty="0">
                <a:solidFill>
                  <a:schemeClr val="bg1">
                    <a:lumMod val="90000"/>
                    <a:lumOff val="10000"/>
                  </a:schemeClr>
                </a:solidFill>
              </a:rPr>
              <a:t>, and load the saved return address into pc to go back to the caller.</a:t>
            </a:r>
            <a:endParaRPr lang="en-IN" b="1" dirty="0">
              <a:solidFill>
                <a:schemeClr val="bg1">
                  <a:lumMod val="90000"/>
                  <a:lumOff val="10000"/>
                </a:schemeClr>
              </a:solidFill>
            </a:endParaRPr>
          </a:p>
        </p:txBody>
      </p:sp>
      <p:sp>
        <p:nvSpPr>
          <p:cNvPr id="10" name="TextBox 9">
            <a:extLst>
              <a:ext uri="{FF2B5EF4-FFF2-40B4-BE49-F238E27FC236}">
                <a16:creationId xmlns:a16="http://schemas.microsoft.com/office/drawing/2014/main" id="{90201A19-CEA7-5A95-3F64-259CB094D9C0}"/>
              </a:ext>
            </a:extLst>
          </p:cNvPr>
          <p:cNvSpPr txBox="1"/>
          <p:nvPr/>
        </p:nvSpPr>
        <p:spPr>
          <a:xfrm>
            <a:off x="1006704" y="4492153"/>
            <a:ext cx="3025444" cy="400110"/>
          </a:xfrm>
          <a:prstGeom prst="rect">
            <a:avLst/>
          </a:prstGeom>
          <a:noFill/>
        </p:spPr>
        <p:txBody>
          <a:bodyPr wrap="none" rtlCol="0">
            <a:spAutoFit/>
          </a:bodyPr>
          <a:lstStyle/>
          <a:p>
            <a:r>
              <a:rPr lang="en-IN" sz="2000" b="1" dirty="0" err="1">
                <a:solidFill>
                  <a:schemeClr val="bg2">
                    <a:lumMod val="50000"/>
                  </a:schemeClr>
                </a:solidFill>
              </a:rPr>
              <a:t>stmfd</a:t>
            </a:r>
            <a:r>
              <a:rPr lang="en-IN" sz="2000" b="1" dirty="0">
                <a:solidFill>
                  <a:schemeClr val="bg2">
                    <a:lumMod val="50000"/>
                  </a:schemeClr>
                </a:solidFill>
              </a:rPr>
              <a:t> </a:t>
            </a:r>
            <a:r>
              <a:rPr lang="en-IN" sz="2000" b="1" dirty="0" err="1">
                <a:solidFill>
                  <a:schemeClr val="bg2">
                    <a:lumMod val="50000"/>
                  </a:schemeClr>
                </a:solidFill>
              </a:rPr>
              <a:t>sp</a:t>
            </a:r>
            <a:r>
              <a:rPr lang="en-IN" sz="2000" b="1" dirty="0">
                <a:solidFill>
                  <a:schemeClr val="bg2">
                    <a:lumMod val="50000"/>
                  </a:schemeClr>
                </a:solidFill>
              </a:rPr>
              <a:t>!, {</a:t>
            </a:r>
            <a:r>
              <a:rPr lang="en-IN" sz="2000" b="1" dirty="0" err="1">
                <a:solidFill>
                  <a:schemeClr val="bg2">
                    <a:lumMod val="50000"/>
                  </a:schemeClr>
                </a:solidFill>
              </a:rPr>
              <a:t>fp</a:t>
            </a:r>
            <a:r>
              <a:rPr lang="en-IN" sz="2000" b="1" dirty="0">
                <a:solidFill>
                  <a:schemeClr val="bg2">
                    <a:lumMod val="50000"/>
                  </a:schemeClr>
                </a:solidFill>
              </a:rPr>
              <a:t>, </a:t>
            </a:r>
            <a:r>
              <a:rPr lang="en-IN" sz="2000" b="1" dirty="0" err="1">
                <a:solidFill>
                  <a:schemeClr val="bg2">
                    <a:lumMod val="50000"/>
                  </a:schemeClr>
                </a:solidFill>
              </a:rPr>
              <a:t>ip</a:t>
            </a:r>
            <a:r>
              <a:rPr lang="en-IN" sz="2000" b="1" dirty="0">
                <a:solidFill>
                  <a:schemeClr val="bg2">
                    <a:lumMod val="50000"/>
                  </a:schemeClr>
                </a:solidFill>
              </a:rPr>
              <a:t>, </a:t>
            </a:r>
            <a:r>
              <a:rPr lang="en-IN" sz="2000" b="1" dirty="0" err="1">
                <a:solidFill>
                  <a:schemeClr val="bg2">
                    <a:lumMod val="50000"/>
                  </a:schemeClr>
                </a:solidFill>
              </a:rPr>
              <a:t>lr</a:t>
            </a:r>
            <a:r>
              <a:rPr lang="en-IN" sz="2000" b="1" dirty="0">
                <a:solidFill>
                  <a:schemeClr val="bg2">
                    <a:lumMod val="50000"/>
                  </a:schemeClr>
                </a:solidFill>
              </a:rPr>
              <a:t>, pc}</a:t>
            </a:r>
            <a:endParaRPr lang="en-IN" sz="2000" dirty="0">
              <a:solidFill>
                <a:schemeClr val="bg2">
                  <a:lumMod val="50000"/>
                </a:schemeClr>
              </a:solidFill>
            </a:endParaRPr>
          </a:p>
        </p:txBody>
      </p:sp>
      <p:sp>
        <p:nvSpPr>
          <p:cNvPr id="11" name="TextBox 10">
            <a:extLst>
              <a:ext uri="{FF2B5EF4-FFF2-40B4-BE49-F238E27FC236}">
                <a16:creationId xmlns:a16="http://schemas.microsoft.com/office/drawing/2014/main" id="{2854E143-3B83-0C7F-68FA-3EB723795372}"/>
              </a:ext>
            </a:extLst>
          </p:cNvPr>
          <p:cNvSpPr txBox="1"/>
          <p:nvPr/>
        </p:nvSpPr>
        <p:spPr>
          <a:xfrm>
            <a:off x="6473458" y="4490016"/>
            <a:ext cx="2715808" cy="400110"/>
          </a:xfrm>
          <a:prstGeom prst="rect">
            <a:avLst/>
          </a:prstGeom>
          <a:noFill/>
        </p:spPr>
        <p:txBody>
          <a:bodyPr wrap="none" rtlCol="0">
            <a:spAutoFit/>
          </a:bodyPr>
          <a:lstStyle/>
          <a:p>
            <a:r>
              <a:rPr lang="en-IN" sz="2000" b="1" dirty="0" err="1">
                <a:solidFill>
                  <a:schemeClr val="bg2">
                    <a:lumMod val="50000"/>
                  </a:schemeClr>
                </a:solidFill>
              </a:rPr>
              <a:t>ldmfd</a:t>
            </a:r>
            <a:r>
              <a:rPr lang="en-IN" sz="2000" b="1" dirty="0">
                <a:solidFill>
                  <a:schemeClr val="bg2">
                    <a:lumMod val="50000"/>
                  </a:schemeClr>
                </a:solidFill>
              </a:rPr>
              <a:t> </a:t>
            </a:r>
            <a:r>
              <a:rPr lang="en-IN" sz="2000" b="1" dirty="0" err="1">
                <a:solidFill>
                  <a:schemeClr val="bg2">
                    <a:lumMod val="50000"/>
                  </a:schemeClr>
                </a:solidFill>
              </a:rPr>
              <a:t>sp</a:t>
            </a:r>
            <a:r>
              <a:rPr lang="en-IN" sz="2000" b="1" dirty="0">
                <a:solidFill>
                  <a:schemeClr val="bg2">
                    <a:lumMod val="50000"/>
                  </a:schemeClr>
                </a:solidFill>
              </a:rPr>
              <a:t>, {</a:t>
            </a:r>
            <a:r>
              <a:rPr lang="en-IN" sz="2000" b="1" dirty="0" err="1">
                <a:solidFill>
                  <a:schemeClr val="bg2">
                    <a:lumMod val="50000"/>
                  </a:schemeClr>
                </a:solidFill>
              </a:rPr>
              <a:t>fp</a:t>
            </a:r>
            <a:r>
              <a:rPr lang="en-IN" sz="2000" b="1" dirty="0">
                <a:solidFill>
                  <a:schemeClr val="bg2">
                    <a:lumMod val="50000"/>
                  </a:schemeClr>
                </a:solidFill>
              </a:rPr>
              <a:t>, </a:t>
            </a:r>
            <a:r>
              <a:rPr lang="en-IN" sz="2000" b="1" dirty="0" err="1">
                <a:solidFill>
                  <a:schemeClr val="bg2">
                    <a:lumMod val="50000"/>
                  </a:schemeClr>
                </a:solidFill>
              </a:rPr>
              <a:t>sp</a:t>
            </a:r>
            <a:r>
              <a:rPr lang="en-IN" sz="2000" b="1" dirty="0">
                <a:solidFill>
                  <a:schemeClr val="bg2">
                    <a:lumMod val="50000"/>
                  </a:schemeClr>
                </a:solidFill>
              </a:rPr>
              <a:t>, pc}</a:t>
            </a:r>
            <a:endParaRPr lang="en-IN" sz="2000" dirty="0">
              <a:solidFill>
                <a:schemeClr val="bg2">
                  <a:lumMod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A2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32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C"/>
                </a:solidFill>
                <a:latin typeface="Georgia" pitchFamily="18" charset="0"/>
                <a:ea typeface="Georgia" pitchFamily="18" charset="-122"/>
                <a:cs typeface="Georgia" pitchFamily="18" charset="-120"/>
              </a:rPr>
              <a:t>Summary</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960" y="1579881"/>
          <a:ext cx="10556240" cy="2051050"/>
        </p:xfrm>
        <a:graphic>
          <a:graphicData uri="http://schemas.openxmlformats.org/drawingml/2006/table">
            <a:tbl>
              <a:tblPr/>
              <a:tblGrid>
                <a:gridCol w="5278120">
                  <a:extLst>
                    <a:ext uri="{9D8B030D-6E8A-4147-A177-3AD203B41FA5}">
                      <a16:colId xmlns:a16="http://schemas.microsoft.com/office/drawing/2014/main" val="20000"/>
                    </a:ext>
                  </a:extLst>
                </a:gridCol>
                <a:gridCol w="5278120">
                  <a:extLst>
                    <a:ext uri="{9D8B030D-6E8A-4147-A177-3AD203B41FA5}">
                      <a16:colId xmlns:a16="http://schemas.microsoft.com/office/drawing/2014/main" val="20001"/>
                    </a:ext>
                  </a:extLst>
                </a:gridCol>
              </a:tblGrid>
              <a:tr h="410210">
                <a:tc>
                  <a:txBody>
                    <a:bodyPr/>
                    <a:lstStyle/>
                    <a:p>
                      <a:pPr marL="0" indent="0">
                        <a:lnSpc>
                          <a:spcPts val="2100"/>
                        </a:lnSpc>
                        <a:buNone/>
                      </a:pPr>
                      <a:r>
                        <a:rPr lang="en-US" sz="1500" b="1" dirty="0">
                          <a:solidFill>
                            <a:srgbClr val="F5F3EC"/>
                          </a:solidFill>
                          <a:latin typeface="Arial" pitchFamily="34" charset="0"/>
                          <a:ea typeface="Arial" pitchFamily="34" charset="-122"/>
                          <a:cs typeface="Arial" pitchFamily="34" charset="-120"/>
                        </a:rPr>
                        <a:t>Tool</a:t>
                      </a:r>
                      <a:endParaRPr lang="en-US" sz="1500" dirty="0">
                        <a:latin typeface="Arial" charset="0"/>
                        <a:ea typeface="Arial" charset="0"/>
                        <a:cs typeface="Arial" charset="0"/>
                      </a:endParaRPr>
                    </a:p>
                  </a:txBody>
                  <a:tcPr marL="66675" marR="66675" marT="66675" marB="66675">
                    <a:lnL w="12700" cap="flat" cmpd="sng" algn="ctr">
                      <a:solidFill>
                        <a:srgbClr val="454B57"/>
                      </a:solidFill>
                      <a:prstDash val="solid"/>
                      <a:round/>
                      <a:headEnd type="none" w="med" len="med"/>
                      <a:tailEnd type="none" w="med" len="med"/>
                    </a:lnL>
                    <a:lnR w="12700" cap="flat" cmpd="sng" algn="ctr">
                      <a:solidFill>
                        <a:srgbClr val="545964"/>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545964"/>
                      </a:solidFill>
                      <a:prstDash val="solid"/>
                      <a:round/>
                      <a:headEnd type="none" w="med" len="med"/>
                      <a:tailEnd type="none" w="med" len="med"/>
                    </a:lnB>
                    <a:solidFill>
                      <a:srgbClr val="252C3B"/>
                    </a:solidFill>
                  </a:tcPr>
                </a:tc>
                <a:tc>
                  <a:txBody>
                    <a:bodyPr/>
                    <a:lstStyle/>
                    <a:p>
                      <a:pPr marL="0" indent="0">
                        <a:lnSpc>
                          <a:spcPts val="2100"/>
                        </a:lnSpc>
                        <a:buNone/>
                      </a:pPr>
                      <a:r>
                        <a:rPr lang="en-US" sz="1500" b="1" dirty="0">
                          <a:solidFill>
                            <a:srgbClr val="F5F3EC"/>
                          </a:solidFill>
                          <a:latin typeface="Arial" pitchFamily="34" charset="0"/>
                          <a:ea typeface="Arial" pitchFamily="34" charset="-122"/>
                          <a:cs typeface="Arial" pitchFamily="34" charset="-120"/>
                        </a:rPr>
                        <a:t>Purpose</a:t>
                      </a:r>
                      <a:endParaRPr lang="en-US" sz="1500" dirty="0">
                        <a:latin typeface="Arial" charset="0"/>
                        <a:ea typeface="Arial" charset="0"/>
                        <a:cs typeface="Arial" charset="0"/>
                      </a:endParaRPr>
                    </a:p>
                  </a:txBody>
                  <a:tcPr marL="66675" marR="66675" marT="66675" marB="66675">
                    <a:lnL w="12700" cap="flat" cmpd="sng" algn="ctr">
                      <a:solidFill>
                        <a:srgbClr val="545964"/>
                      </a:solidFill>
                      <a:prstDash val="solid"/>
                      <a:round/>
                      <a:headEnd type="none" w="med" len="med"/>
                      <a:tailEnd type="none" w="med" len="med"/>
                    </a:lnL>
                    <a:lnR w="12700" cap="flat" cmpd="sng" algn="ctr">
                      <a:solidFill>
                        <a:srgbClr val="545964"/>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545964"/>
                      </a:solidFill>
                      <a:prstDash val="solid"/>
                      <a:round/>
                      <a:headEnd type="none" w="med" len="med"/>
                      <a:tailEnd type="none" w="med" len="med"/>
                    </a:lnB>
                    <a:solidFill>
                      <a:srgbClr val="252C3B"/>
                    </a:solidFill>
                  </a:tcPr>
                </a:tc>
                <a:extLst>
                  <a:ext uri="{0D108BD9-81ED-4DB2-BD59-A6C34878D82A}">
                    <a16:rowId xmlns:a16="http://schemas.microsoft.com/office/drawing/2014/main" val="10000"/>
                  </a:ext>
                </a:extLst>
              </a:tr>
              <a:tr h="410210">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Ubuntu</a:t>
                      </a:r>
                      <a:endParaRPr lang="en-US" sz="1500" dirty="0">
                        <a:latin typeface="Arial" charset="0"/>
                        <a:ea typeface="Arial" charset="0"/>
                        <a:cs typeface="Arial" charset="0"/>
                      </a:endParaRPr>
                    </a:p>
                  </a:txBody>
                  <a:tcPr marL="66675" marR="66675" marT="66675" marB="66675">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545964"/>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Host operating system</a:t>
                      </a:r>
                      <a:endParaRPr lang="en-US" sz="1500" dirty="0">
                        <a:latin typeface="Arial" charset="0"/>
                        <a:ea typeface="Arial" charset="0"/>
                        <a:cs typeface="Arial" charset="0"/>
                      </a:endParaRPr>
                    </a:p>
                  </a:txBody>
                  <a:tcPr marL="66675" marR="66675" marT="66675" marB="66675">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545964"/>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extLst>
                  <a:ext uri="{0D108BD9-81ED-4DB2-BD59-A6C34878D82A}">
                    <a16:rowId xmlns:a16="http://schemas.microsoft.com/office/drawing/2014/main" val="10001"/>
                  </a:ext>
                </a:extLst>
              </a:tr>
              <a:tr h="410210">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arm-linux-gnueabi-gcc</a:t>
                      </a:r>
                      <a:endParaRPr lang="en-US" sz="1500" dirty="0">
                        <a:latin typeface="Arial" charset="0"/>
                        <a:ea typeface="Arial" charset="0"/>
                        <a:cs typeface="Arial" charset="0"/>
                      </a:endParaRPr>
                    </a:p>
                  </a:txBody>
                  <a:tcPr marL="66675" marR="66675" marT="66675" marB="66675">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Generates ARM assembly and executables</a:t>
                      </a:r>
                      <a:endParaRPr lang="en-US" sz="1500" dirty="0">
                        <a:latin typeface="Arial" charset="0"/>
                        <a:ea typeface="Arial" charset="0"/>
                        <a:cs typeface="Arial" charset="0"/>
                      </a:endParaRPr>
                    </a:p>
                  </a:txBody>
                  <a:tcPr marL="66675" marR="66675" marT="66675" marB="66675">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extLst>
                  <a:ext uri="{0D108BD9-81ED-4DB2-BD59-A6C34878D82A}">
                    <a16:rowId xmlns:a16="http://schemas.microsoft.com/office/drawing/2014/main" val="10002"/>
                  </a:ext>
                </a:extLst>
              </a:tr>
              <a:tr h="410210">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QEMU (qemu-arm)</a:t>
                      </a:r>
                      <a:endParaRPr lang="en-US" sz="1500" dirty="0">
                        <a:latin typeface="Arial" charset="0"/>
                        <a:ea typeface="Arial" charset="0"/>
                        <a:cs typeface="Arial" charset="0"/>
                      </a:endParaRPr>
                    </a:p>
                  </a:txBody>
                  <a:tcPr marL="66675" marR="66675" marT="66675" marB="66675">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Runs ARM binaries on the x86 host</a:t>
                      </a:r>
                      <a:endParaRPr lang="en-US" sz="1500" dirty="0">
                        <a:latin typeface="Arial" charset="0"/>
                        <a:ea typeface="Arial" charset="0"/>
                        <a:cs typeface="Arial" charset="0"/>
                      </a:endParaRPr>
                    </a:p>
                  </a:txBody>
                  <a:tcPr marL="66675" marR="66675" marT="66675" marB="66675">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extLst>
                  <a:ext uri="{0D108BD9-81ED-4DB2-BD59-A6C34878D82A}">
                    <a16:rowId xmlns:a16="http://schemas.microsoft.com/office/drawing/2014/main" val="10003"/>
                  </a:ext>
                </a:extLst>
              </a:tr>
              <a:tr h="410210">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file</a:t>
                      </a:r>
                      <a:endParaRPr lang="en-US" sz="1500" dirty="0">
                        <a:latin typeface="Arial" charset="0"/>
                        <a:ea typeface="Arial" charset="0"/>
                        <a:cs typeface="Arial" charset="0"/>
                      </a:endParaRPr>
                    </a:p>
                  </a:txBody>
                  <a:tcPr marL="66675" marR="66675" marT="66675" marB="66675">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tc>
                  <a:txBody>
                    <a:bodyPr/>
                    <a:lstStyle/>
                    <a:p>
                      <a:pPr marL="0" indent="0">
                        <a:lnSpc>
                          <a:spcPts val="2100"/>
                        </a:lnSpc>
                        <a:buNone/>
                      </a:pPr>
                      <a:r>
                        <a:rPr lang="en-US" sz="1500" dirty="0">
                          <a:solidFill>
                            <a:srgbClr val="F5F3EC"/>
                          </a:solidFill>
                          <a:latin typeface="Arial" pitchFamily="34" charset="0"/>
                          <a:ea typeface="Arial" pitchFamily="34" charset="-122"/>
                          <a:cs typeface="Arial" pitchFamily="34" charset="-120"/>
                        </a:rPr>
                        <a:t>Confirms the binary is ARM ELF</a:t>
                      </a:r>
                      <a:endParaRPr lang="en-US" sz="1500" dirty="0">
                        <a:latin typeface="Arial" charset="0"/>
                        <a:ea typeface="Arial" charset="0"/>
                        <a:cs typeface="Arial" charset="0"/>
                      </a:endParaRPr>
                    </a:p>
                  </a:txBody>
                  <a:tcPr marL="66675" marR="66675" marT="66675" marB="66675">
                    <a:lnL w="12700" cap="flat" cmpd="sng" algn="ctr">
                      <a:solidFill>
                        <a:srgbClr val="454B57"/>
                      </a:solidFill>
                      <a:prstDash val="solid"/>
                      <a:round/>
                      <a:headEnd type="none" w="med" len="med"/>
                      <a:tailEnd type="none" w="med" len="med"/>
                    </a:lnL>
                    <a:lnR w="12700" cap="flat" cmpd="sng" algn="ctr">
                      <a:solidFill>
                        <a:srgbClr val="454B57"/>
                      </a:solidFill>
                      <a:prstDash val="solid"/>
                      <a:round/>
                      <a:headEnd type="none" w="med" len="med"/>
                      <a:tailEnd type="none" w="med" len="med"/>
                    </a:lnR>
                    <a:lnT w="12700" cap="flat" cmpd="sng" algn="ctr">
                      <a:solidFill>
                        <a:srgbClr val="454B57"/>
                      </a:solidFill>
                      <a:prstDash val="solid"/>
                      <a:round/>
                      <a:headEnd type="none" w="med" len="med"/>
                      <a:tailEnd type="none" w="med" len="med"/>
                    </a:lnT>
                    <a:lnB w="12700" cap="flat" cmpd="sng" algn="ctr">
                      <a:solidFill>
                        <a:srgbClr val="454B5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 1"/>
          <p:cNvSpPr/>
          <p:nvPr/>
        </p:nvSpPr>
        <p:spPr>
          <a:xfrm>
            <a:off x="812800" y="3884929"/>
            <a:ext cx="10883392" cy="6299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F5F3EC"/>
                </a:solidFill>
                <a:latin typeface="Arial" pitchFamily="34" charset="0"/>
                <a:ea typeface="Arial" pitchFamily="34" charset="-122"/>
                <a:cs typeface="Arial" pitchFamily="34" charset="-120"/>
              </a:rPr>
              <a:t>Results: Hello World prints, add prints </a:t>
            </a:r>
            <a:r>
              <a:rPr lang="en-US" sz="1700" b="1" dirty="0">
                <a:solidFill>
                  <a:srgbClr val="F0B35A"/>
                </a:solidFill>
                <a:latin typeface="Arial" pitchFamily="34" charset="0"/>
                <a:ea typeface="Arial" pitchFamily="34" charset="-122"/>
                <a:cs typeface="Arial" pitchFamily="34" charset="-120"/>
              </a:rPr>
              <a:t>50</a:t>
            </a:r>
            <a:r>
              <a:rPr lang="en-US" sz="1700" dirty="0">
                <a:solidFill>
                  <a:srgbClr val="F5F3EC"/>
                </a:solidFill>
                <a:latin typeface="Arial" pitchFamily="34" charset="0"/>
                <a:ea typeface="Arial" pitchFamily="34" charset="-122"/>
                <a:cs typeface="Arial" pitchFamily="34" charset="-120"/>
              </a:rPr>
              <a:t>, factorial(3) prints </a:t>
            </a:r>
            <a:r>
              <a:rPr lang="en-US" sz="1700" b="1" dirty="0">
                <a:solidFill>
                  <a:srgbClr val="F0B35A"/>
                </a:solidFill>
                <a:latin typeface="Arial" pitchFamily="34" charset="0"/>
                <a:ea typeface="Arial" pitchFamily="34" charset="-122"/>
                <a:cs typeface="Arial" pitchFamily="34" charset="-120"/>
              </a:rPr>
              <a:t>6</a:t>
            </a:r>
            <a:r>
              <a:rPr lang="en-US" sz="1700" dirty="0">
                <a:solidFill>
                  <a:srgbClr val="F5F3EC"/>
                </a:solidFill>
                <a:latin typeface="Arial" pitchFamily="34" charset="0"/>
                <a:ea typeface="Arial" pitchFamily="34" charset="-122"/>
                <a:cs typeface="Arial" pitchFamily="34" charset="-120"/>
              </a:rPr>
              <a:t>. Cross compilation builds for ARM, and emulation lets us test it without ARM hardware.</a:t>
            </a:r>
            <a:endParaRPr lang="en-US" sz="1700" dirty="0"/>
          </a:p>
        </p:txBody>
      </p:sp>
      <p:sp>
        <p:nvSpPr>
          <p:cNvPr id="5" name="Text 2"/>
          <p:cNvSpPr/>
          <p:nvPr/>
        </p:nvSpPr>
        <p:spPr>
          <a:xfrm>
            <a:off x="812800" y="6238242"/>
            <a:ext cx="37980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19C"/>
                </a:solidFill>
                <a:latin typeface="Arial" pitchFamily="34" charset="0"/>
                <a:ea typeface="Arial" pitchFamily="34" charset="-122"/>
                <a:cs typeface="Arial" pitchFamily="34" charset="-120"/>
              </a:rPr>
              <a:t>COA Assignment 1 · NIT Srinagar ·</a:t>
            </a:r>
            <a:endParaRPr lang="en-US" sz="1200" dirty="0"/>
          </a:p>
        </p:txBody>
      </p:sp>
    </p:spTree>
  </p:cSld>
  <p:clrMapOvr>
    <a:masterClrMapping/>
  </p:clrMapOvr>
</p:sld>
</file>

<file path=ppt/theme/theme1.xml><?xml version="1.0" encoding="utf-8"?>
<a:theme xmlns:a="http://schemas.openxmlformats.org/drawingml/2006/main" name="ARM Cross Compilation &amp; QEMU – COA Assignment 1">
  <a:themeElements>
    <a:clrScheme name="ARM Cross Compilation &amp; QEMU – COA Assignment 1">
      <a:dk1>
        <a:srgbClr val="121A2B"/>
      </a:dk1>
      <a:lt1>
        <a:srgbClr val="F5F3EC"/>
      </a:lt1>
      <a:dk2>
        <a:srgbClr val="29303E"/>
      </a:dk2>
      <a:lt2>
        <a:srgbClr val="BCBDBC"/>
      </a:lt2>
      <a:accent1>
        <a:srgbClr val="F0B35A"/>
      </a:accent1>
      <a:accent2>
        <a:srgbClr val="1F6F80"/>
      </a:accent2>
      <a:accent3>
        <a:srgbClr val="B8691A"/>
      </a:accent3>
      <a:accent4>
        <a:srgbClr val="8A919C"/>
      </a:accent4>
      <a:accent5>
        <a:srgbClr val="C9CFDB"/>
      </a:accent5>
      <a:accent6>
        <a:srgbClr val="9AA0A6"/>
      </a:accent6>
      <a:hlink>
        <a:srgbClr val="0563C1"/>
      </a:hlink>
      <a:folHlink>
        <a:srgbClr val="954F72"/>
      </a:folHlink>
    </a:clrScheme>
    <a:fontScheme name="ARM Cross Compilation &amp; QEMU – COA Assignment 1">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113</TotalTime>
  <Words>1426</Words>
  <Application>Microsoft Office PowerPoint</Application>
  <PresentationFormat>Widescreen</PresentationFormat>
  <Paragraphs>197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Courier New</vt:lpstr>
      <vt:lpstr>Georgia</vt:lpstr>
      <vt:lpstr>ARM Cross Compilation &amp; QEMU – COA Assignment 1</vt:lpstr>
      <vt:lpstr>ARM Cross Compilation and QEMU Emulation</vt:lpstr>
      <vt:lpstr>What is cross compilation?</vt:lpstr>
      <vt:lpstr>From C source to ARM executable</vt:lpstr>
      <vt:lpstr>Hello World in ARM assembly</vt:lpstr>
      <vt:lpstr>Running ARM programs with QEMU</vt:lpstr>
      <vt:lpstr>add.s: a=4 ; b=6 and c = a + b</vt:lpstr>
      <vt:lpstr>add.s: d = 5c, printf and return</vt:lpstr>
      <vt:lpstr>factorial.s: tracing recursion for n = 3</vt:lpstr>
      <vt:lpstr>factorial trace: registers and memory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ARM Cross Compilation &amp; QEMU – COA Assignment 1</dc:title>
  <dc:subject/>
  <dc:creator/>
  <cp:lastModifiedBy>ashok master</cp:lastModifiedBy>
  <cp:revision>3</cp:revision>
  <dcterms:created xsi:type="dcterms:W3CDTF">2026-10-10T16:59:59Z</dcterms:created>
  <dcterms:modified xsi:type="dcterms:W3CDTF">2026-10-10T18:58:37Z</dcterms:modified>
</cp:coreProperties>
</file>